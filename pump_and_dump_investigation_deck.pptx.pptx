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8"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667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2806929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106424"/>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457200" y="137160"/>
            <a:ext cx="822960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Social Media Driven </a:t>
            </a:r>
            <a:r>
              <a:rPr lang="en-US" sz="2400" b="1" dirty="0" smtClean="0">
                <a:solidFill>
                  <a:srgbClr val="FFFFFF"/>
                </a:solidFill>
                <a:latin typeface="Calibri" pitchFamily="34" charset="0"/>
                <a:ea typeface="Calibri" pitchFamily="34" charset="-122"/>
                <a:cs typeface="Calibri" pitchFamily="34" charset="-120"/>
              </a:rPr>
              <a:t>Pump-and-Dump </a:t>
            </a:r>
            <a:r>
              <a:rPr lang="en-US" sz="2400" b="1" dirty="0">
                <a:solidFill>
                  <a:srgbClr val="FFFFFF"/>
                </a:solidFill>
                <a:latin typeface="Calibri" pitchFamily="34" charset="0"/>
                <a:ea typeface="Calibri" pitchFamily="34" charset="-122"/>
                <a:cs typeface="Calibri" pitchFamily="34" charset="-120"/>
              </a:rPr>
              <a:t>Schemes</a:t>
            </a:r>
            <a:endParaRPr lang="en-US" sz="2400" dirty="0"/>
          </a:p>
        </p:txBody>
      </p:sp>
      <p:sp>
        <p:nvSpPr>
          <p:cNvPr id="4" name="Text 2"/>
          <p:cNvSpPr/>
          <p:nvPr/>
        </p:nvSpPr>
        <p:spPr>
          <a:xfrm>
            <a:off x="457200" y="553212"/>
            <a:ext cx="8229600" cy="411480"/>
          </a:xfrm>
          <a:prstGeom prst="rect">
            <a:avLst/>
          </a:prstGeom>
          <a:noFill/>
          <a:ln/>
        </p:spPr>
        <p:txBody>
          <a:bodyPr wrap="square" lIns="0" tIns="0" rIns="0" bIns="0" rtlCol="0" anchor="ctr"/>
          <a:lstStyle/>
          <a:p>
            <a:pPr marL="0" indent="0" algn="ctr">
              <a:buNone/>
            </a:pPr>
            <a:r>
              <a:rPr lang="en-US" sz="1400" dirty="0">
                <a:solidFill>
                  <a:srgbClr val="AECBF0"/>
                </a:solidFill>
                <a:latin typeface="Calibri" pitchFamily="34" charset="0"/>
                <a:ea typeface="Calibri" pitchFamily="34" charset="-122"/>
                <a:cs typeface="Calibri" pitchFamily="34" charset="-120"/>
              </a:rPr>
              <a:t>in Indian Capital Markets: A Study of Telegram-Based Stock Manipulation</a:t>
            </a:r>
            <a:endParaRPr lang="en-US" sz="1400" dirty="0"/>
          </a:p>
        </p:txBody>
      </p:sp>
      <p:sp>
        <p:nvSpPr>
          <p:cNvPr id="5" name="Text 3"/>
          <p:cNvSpPr/>
          <p:nvPr/>
        </p:nvSpPr>
        <p:spPr>
          <a:xfrm>
            <a:off x="457200" y="1216152"/>
            <a:ext cx="8229600" cy="274320"/>
          </a:xfrm>
          <a:prstGeom prst="rect">
            <a:avLst/>
          </a:prstGeom>
          <a:noFill/>
          <a:ln/>
        </p:spPr>
        <p:txBody>
          <a:bodyPr wrap="square" lIns="0" tIns="0" rIns="0" bIns="0" rtlCol="0" anchor="ctr"/>
          <a:lstStyle/>
          <a:p>
            <a:pPr marL="0" indent="0" algn="ctr">
              <a:buNone/>
            </a:pPr>
            <a:endParaRPr lang="en-US" sz="1100" dirty="0"/>
          </a:p>
        </p:txBody>
      </p:sp>
      <p:sp>
        <p:nvSpPr>
          <p:cNvPr id="8" name="Shape 6"/>
          <p:cNvSpPr/>
          <p:nvPr/>
        </p:nvSpPr>
        <p:spPr>
          <a:xfrm>
            <a:off x="4754880" y="2020824"/>
            <a:ext cx="3794760" cy="1920240"/>
          </a:xfrm>
          <a:prstGeom prst="roundRect">
            <a:avLst>
              <a:gd name="adj" fmla="val 4762"/>
            </a:avLst>
          </a:prstGeom>
          <a:solidFill>
            <a:srgbClr val="F4F6FB"/>
          </a:solidFill>
          <a:ln w="12700">
            <a:noFill/>
            <a:prstDash val="solid"/>
          </a:ln>
          <a:effectLst>
            <a:outerShdw blurRad="107950" dist="12700" dir="5400000" algn="ctr">
              <a:srgbClr val="000000"/>
            </a:outerShdw>
          </a:effectLst>
        </p:spPr>
      </p:sp>
      <p:sp>
        <p:nvSpPr>
          <p:cNvPr id="9" name="Text 7"/>
          <p:cNvSpPr/>
          <p:nvPr/>
        </p:nvSpPr>
        <p:spPr>
          <a:xfrm>
            <a:off x="4892040" y="2084832"/>
            <a:ext cx="3657600" cy="32004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Project Area</a:t>
            </a:r>
            <a:endParaRPr lang="en-US" sz="1100" dirty="0"/>
          </a:p>
        </p:txBody>
      </p:sp>
      <p:sp>
        <p:nvSpPr>
          <p:cNvPr id="10" name="Shape 8"/>
          <p:cNvSpPr/>
          <p:nvPr/>
        </p:nvSpPr>
        <p:spPr>
          <a:xfrm>
            <a:off x="4892040" y="2450592"/>
            <a:ext cx="3566160" cy="256032"/>
          </a:xfrm>
          <a:prstGeom prst="roundRect">
            <a:avLst>
              <a:gd name="adj" fmla="val 25000"/>
            </a:avLst>
          </a:prstGeom>
          <a:solidFill>
            <a:srgbClr val="3A7BD5"/>
          </a:solidFill>
          <a:ln w="12700">
            <a:solidFill>
              <a:srgbClr val="3A7BD5"/>
            </a:solidFill>
            <a:prstDash val="solid"/>
          </a:ln>
        </p:spPr>
      </p:sp>
      <p:sp>
        <p:nvSpPr>
          <p:cNvPr id="11" name="Text 9"/>
          <p:cNvSpPr/>
          <p:nvPr/>
        </p:nvSpPr>
        <p:spPr>
          <a:xfrm>
            <a:off x="4892040" y="2459736"/>
            <a:ext cx="356616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Financial Crime Analytics</a:t>
            </a:r>
            <a:endParaRPr lang="en-US" sz="950" dirty="0"/>
          </a:p>
        </p:txBody>
      </p:sp>
      <p:sp>
        <p:nvSpPr>
          <p:cNvPr id="12" name="Shape 10"/>
          <p:cNvSpPr/>
          <p:nvPr/>
        </p:nvSpPr>
        <p:spPr>
          <a:xfrm>
            <a:off x="4892040" y="2761488"/>
            <a:ext cx="3566160" cy="256032"/>
          </a:xfrm>
          <a:prstGeom prst="roundRect">
            <a:avLst>
              <a:gd name="adj" fmla="val 25000"/>
            </a:avLst>
          </a:prstGeom>
          <a:solidFill>
            <a:srgbClr val="3A7BD5"/>
          </a:solidFill>
          <a:ln w="12700">
            <a:solidFill>
              <a:srgbClr val="3A7BD5"/>
            </a:solidFill>
            <a:prstDash val="solid"/>
          </a:ln>
        </p:spPr>
      </p:sp>
      <p:sp>
        <p:nvSpPr>
          <p:cNvPr id="13" name="Text 11"/>
          <p:cNvSpPr/>
          <p:nvPr/>
        </p:nvSpPr>
        <p:spPr>
          <a:xfrm>
            <a:off x="4892040" y="2770632"/>
            <a:ext cx="356616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Capital Markets</a:t>
            </a:r>
            <a:endParaRPr lang="en-US" sz="950" dirty="0"/>
          </a:p>
        </p:txBody>
      </p:sp>
      <p:sp>
        <p:nvSpPr>
          <p:cNvPr id="14" name="Shape 12"/>
          <p:cNvSpPr/>
          <p:nvPr/>
        </p:nvSpPr>
        <p:spPr>
          <a:xfrm>
            <a:off x="4892040" y="3072384"/>
            <a:ext cx="3566160" cy="256032"/>
          </a:xfrm>
          <a:prstGeom prst="roundRect">
            <a:avLst>
              <a:gd name="adj" fmla="val 25000"/>
            </a:avLst>
          </a:prstGeom>
          <a:solidFill>
            <a:srgbClr val="3A7BD5"/>
          </a:solidFill>
          <a:ln w="12700">
            <a:solidFill>
              <a:srgbClr val="3A7BD5"/>
            </a:solidFill>
            <a:prstDash val="solid"/>
          </a:ln>
        </p:spPr>
      </p:sp>
      <p:sp>
        <p:nvSpPr>
          <p:cNvPr id="15" name="Text 13"/>
          <p:cNvSpPr/>
          <p:nvPr/>
        </p:nvSpPr>
        <p:spPr>
          <a:xfrm>
            <a:off x="4892040" y="3081528"/>
            <a:ext cx="356616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Data Analytics</a:t>
            </a:r>
            <a:endParaRPr lang="en-US" sz="950" dirty="0"/>
          </a:p>
        </p:txBody>
      </p:sp>
      <p:sp>
        <p:nvSpPr>
          <p:cNvPr id="16" name="Shape 14"/>
          <p:cNvSpPr/>
          <p:nvPr/>
        </p:nvSpPr>
        <p:spPr>
          <a:xfrm>
            <a:off x="4892040" y="3383280"/>
            <a:ext cx="3566160" cy="256032"/>
          </a:xfrm>
          <a:prstGeom prst="roundRect">
            <a:avLst>
              <a:gd name="adj" fmla="val 25000"/>
            </a:avLst>
          </a:prstGeom>
          <a:solidFill>
            <a:srgbClr val="3A7BD5"/>
          </a:solidFill>
          <a:ln w="12700">
            <a:solidFill>
              <a:srgbClr val="3A7BD5"/>
            </a:solidFill>
            <a:prstDash val="solid"/>
          </a:ln>
        </p:spPr>
      </p:sp>
      <p:sp>
        <p:nvSpPr>
          <p:cNvPr id="17" name="Text 15"/>
          <p:cNvSpPr/>
          <p:nvPr/>
        </p:nvSpPr>
        <p:spPr>
          <a:xfrm>
            <a:off x="4892040" y="3392424"/>
            <a:ext cx="3566160" cy="237744"/>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FinTech</a:t>
            </a:r>
            <a:endParaRPr lang="en-US" sz="950" dirty="0"/>
          </a:p>
        </p:txBody>
      </p:sp>
      <p:sp>
        <p:nvSpPr>
          <p:cNvPr id="19" name="Text 17"/>
          <p:cNvSpPr/>
          <p:nvPr/>
        </p:nvSpPr>
        <p:spPr>
          <a:xfrm>
            <a:off x="365760" y="4838766"/>
            <a:ext cx="8412480" cy="301752"/>
          </a:xfrm>
          <a:prstGeom prst="rect">
            <a:avLst/>
          </a:prstGeom>
          <a:noFill/>
          <a:ln/>
        </p:spPr>
        <p:txBody>
          <a:bodyPr wrap="square" lIns="0" tIns="0" rIns="0" bIns="0" rtlCol="0" anchor="ctr"/>
          <a:lstStyle/>
          <a:p>
            <a:pPr marL="0" indent="0" algn="ctr">
              <a:buNone/>
            </a:pPr>
            <a:endParaRPr lang="en-US" sz="800" dirty="0"/>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760" y="1545137"/>
            <a:ext cx="3945835" cy="312473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Introduction</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5394960" cy="3703320"/>
          </a:xfrm>
          <a:prstGeom prst="roundRect">
            <a:avLst>
              <a:gd name="adj" fmla="val 3922"/>
            </a:avLst>
          </a:prstGeom>
          <a:solidFill>
            <a:schemeClr val="accent1">
              <a:lumMod val="40000"/>
              <a:lumOff val="60000"/>
            </a:schemeClr>
          </a:solidFill>
          <a:ln w="12700">
            <a:solidFill>
              <a:srgbClr val="E2E8F0"/>
            </a:solidFill>
            <a:prstDash val="solid"/>
          </a:ln>
          <a:effectLst>
            <a:outerShdw blurRad="63500" dist="25400" dir="2700000" algn="bl" rotWithShape="0">
              <a:srgbClr val="000000">
                <a:alpha val="8000"/>
              </a:srgbClr>
            </a:outerShdw>
          </a:effectLst>
        </p:spPr>
      </p:sp>
      <p:sp>
        <p:nvSpPr>
          <p:cNvPr id="6" name="Text 4"/>
          <p:cNvSpPr/>
          <p:nvPr/>
        </p:nvSpPr>
        <p:spPr>
          <a:xfrm>
            <a:off x="411480" y="1112586"/>
            <a:ext cx="5120640" cy="292608"/>
          </a:xfrm>
          <a:prstGeom prst="rect">
            <a:avLst/>
          </a:prstGeom>
          <a:noFill/>
          <a:ln/>
        </p:spPr>
        <p:txBody>
          <a:bodyPr wrap="square" lIns="0" tIns="0" rIns="0" bIns="0" rtlCol="0" anchor="ctr"/>
          <a:lstStyle/>
          <a:p>
            <a:pPr marL="0" indent="0">
              <a:buNone/>
            </a:pPr>
            <a:r>
              <a:rPr lang="en-US" sz="1200" b="1" dirty="0">
                <a:solidFill>
                  <a:srgbClr val="1A3F7A"/>
                </a:solidFill>
                <a:latin typeface="Calibri" pitchFamily="34" charset="0"/>
                <a:ea typeface="Calibri" pitchFamily="34" charset="-122"/>
                <a:cs typeface="Calibri" pitchFamily="34" charset="-120"/>
              </a:rPr>
              <a:t>Background</a:t>
            </a:r>
            <a:endParaRPr lang="en-US" sz="1200" dirty="0"/>
          </a:p>
        </p:txBody>
      </p:sp>
      <p:sp>
        <p:nvSpPr>
          <p:cNvPr id="7" name="Text 5"/>
          <p:cNvSpPr/>
          <p:nvPr/>
        </p:nvSpPr>
        <p:spPr>
          <a:xfrm>
            <a:off x="411480" y="2112264"/>
            <a:ext cx="5166360" cy="1280160"/>
          </a:xfrm>
          <a:prstGeom prst="rect">
            <a:avLst/>
          </a:prstGeom>
          <a:noFill/>
          <a:ln/>
        </p:spPr>
        <p:txBody>
          <a:bodyPr wrap="square" lIns="0" tIns="0" rIns="0" bIns="0" rtlCol="0" anchor="ctr"/>
          <a:lstStyle/>
          <a:p>
            <a:pPr marL="0" indent="0">
              <a:buNone/>
            </a:pPr>
            <a:r>
              <a:rPr lang="en-US" sz="1050" dirty="0">
                <a:solidFill>
                  <a:srgbClr val="1A1A2E"/>
                </a:solidFill>
                <a:latin typeface="Calibri" pitchFamily="34" charset="0"/>
                <a:ea typeface="Calibri" pitchFamily="34" charset="-122"/>
                <a:cs typeface="Calibri" pitchFamily="34" charset="-120"/>
              </a:rPr>
              <a:t>India has experienced a significant increase in retail participation in the stock market due to the growth of online trading platforms, smartphone penetration, and simplified account opening processes. The number of Demat accounts has grown rapidly, making stock market investing accessible to a larger population</a:t>
            </a:r>
            <a:r>
              <a:rPr lang="en-US" sz="1050" dirty="0" smtClean="0">
                <a:solidFill>
                  <a:srgbClr val="1A1A2E"/>
                </a:solidFill>
                <a:latin typeface="Calibri" pitchFamily="34" charset="0"/>
                <a:ea typeface="Calibri" pitchFamily="34" charset="-122"/>
                <a:cs typeface="Calibri" pitchFamily="34" charset="-120"/>
              </a:rPr>
              <a:t>.</a:t>
            </a:r>
          </a:p>
          <a:p>
            <a:pPr marL="0" indent="0">
              <a:buNone/>
            </a:pPr>
            <a:endParaRPr lang="en-US" sz="1050" dirty="0">
              <a:solidFill>
                <a:srgbClr val="1A1A2E"/>
              </a:solidFill>
              <a:latin typeface="Calibri" pitchFamily="34" charset="0"/>
              <a:ea typeface="Calibri" pitchFamily="34" charset="-122"/>
              <a:cs typeface="Calibri" pitchFamily="34" charset="-120"/>
            </a:endParaRPr>
          </a:p>
          <a:p>
            <a:pPr marL="0" indent="0">
              <a:buNone/>
            </a:pPr>
            <a:endParaRPr lang="en-US" sz="1050" dirty="0" smtClean="0">
              <a:solidFill>
                <a:srgbClr val="1A1A2E"/>
              </a:solidFill>
              <a:latin typeface="Calibri" pitchFamily="34" charset="0"/>
              <a:ea typeface="Calibri" pitchFamily="34" charset="-122"/>
              <a:cs typeface="Calibri" pitchFamily="34" charset="-120"/>
            </a:endParaRPr>
          </a:p>
          <a:p>
            <a:pPr marL="0" indent="0">
              <a:buNone/>
            </a:pPr>
            <a:endParaRPr lang="en-US" sz="1050" dirty="0"/>
          </a:p>
          <a:p>
            <a:pPr marL="0" indent="0">
              <a:buNone/>
            </a:pPr>
            <a:endParaRPr lang="en-US" sz="1050" dirty="0"/>
          </a:p>
          <a:p>
            <a:pPr marL="0" indent="0">
              <a:buNone/>
            </a:pPr>
            <a:r>
              <a:rPr lang="en-US" sz="1050" dirty="0">
                <a:solidFill>
                  <a:srgbClr val="1A1A2E"/>
                </a:solidFill>
                <a:latin typeface="Calibri" pitchFamily="34" charset="0"/>
                <a:ea typeface="Calibri" pitchFamily="34" charset="-122"/>
                <a:cs typeface="Calibri" pitchFamily="34" charset="-120"/>
              </a:rPr>
              <a:t>While this democratization has increased financial inclusion, it has also created opportunities for fraudsters to exploit inexperienced investors through social media platforms. Traditional stock market fraud has evolved into digital pump-and-dump schemes coordinated through Telegram, WhatsApp, and X (Twitter).</a:t>
            </a:r>
            <a:endParaRPr lang="en-US" sz="1050" dirty="0"/>
          </a:p>
        </p:txBody>
      </p:sp>
      <p:sp>
        <p:nvSpPr>
          <p:cNvPr id="8" name="Shape 6"/>
          <p:cNvSpPr/>
          <p:nvPr/>
        </p:nvSpPr>
        <p:spPr>
          <a:xfrm>
            <a:off x="5852160" y="868680"/>
            <a:ext cx="3017520" cy="1536192"/>
          </a:xfrm>
          <a:prstGeom prst="roundRect">
            <a:avLst>
              <a:gd name="adj" fmla="val 6897"/>
            </a:avLst>
          </a:prstGeom>
          <a:solidFill>
            <a:schemeClr val="accent1">
              <a:lumMod val="20000"/>
              <a:lumOff val="80000"/>
            </a:schemeClr>
          </a:solidFill>
          <a:ln w="12700">
            <a:solidFill>
              <a:srgbClr val="E2E8F0"/>
            </a:solidFill>
            <a:prstDash val="solid"/>
          </a:ln>
          <a:effectLst>
            <a:outerShdw blurRad="63500" dist="25400" dir="2700000" algn="bl" rotWithShape="0">
              <a:srgbClr val="000000">
                <a:alpha val="8000"/>
              </a:srgbClr>
            </a:outerShdw>
          </a:effectLst>
        </p:spPr>
      </p:sp>
      <p:sp>
        <p:nvSpPr>
          <p:cNvPr id="9" name="Text 7"/>
          <p:cNvSpPr/>
          <p:nvPr/>
        </p:nvSpPr>
        <p:spPr>
          <a:xfrm>
            <a:off x="5989320" y="1024128"/>
            <a:ext cx="2743200" cy="292608"/>
          </a:xfrm>
          <a:prstGeom prst="rect">
            <a:avLst/>
          </a:prstGeom>
          <a:noFill/>
          <a:ln/>
        </p:spPr>
        <p:txBody>
          <a:bodyPr wrap="square" lIns="0" tIns="0" rIns="0" bIns="0" rtlCol="0" anchor="ctr"/>
          <a:lstStyle/>
          <a:p>
            <a:pPr marL="0" indent="0">
              <a:buNone/>
            </a:pPr>
            <a:r>
              <a:rPr lang="en-US" sz="1100" b="1" dirty="0">
                <a:solidFill>
                  <a:schemeClr val="accent1">
                    <a:lumMod val="75000"/>
                  </a:schemeClr>
                </a:solidFill>
                <a:latin typeface="Calibri" pitchFamily="34" charset="0"/>
                <a:ea typeface="Calibri" pitchFamily="34" charset="-122"/>
                <a:cs typeface="Calibri" pitchFamily="34" charset="-120"/>
              </a:rPr>
              <a:t>Problem Statement</a:t>
            </a:r>
            <a:endParaRPr lang="en-US" sz="1100" dirty="0">
              <a:solidFill>
                <a:schemeClr val="accent1">
                  <a:lumMod val="75000"/>
                </a:schemeClr>
              </a:solidFill>
            </a:endParaRPr>
          </a:p>
        </p:txBody>
      </p:sp>
      <p:sp>
        <p:nvSpPr>
          <p:cNvPr id="10" name="Text 8"/>
          <p:cNvSpPr/>
          <p:nvPr/>
        </p:nvSpPr>
        <p:spPr>
          <a:xfrm>
            <a:off x="5989320" y="1307592"/>
            <a:ext cx="2743200" cy="91440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Retail investors often rely on social media recommendations without verifying their authenticity, making them vulnerable to market manipulation, artificial price inflation, and sudden financial losses.</a:t>
            </a:r>
            <a:endParaRPr lang="en-US" sz="900" dirty="0"/>
          </a:p>
        </p:txBody>
      </p:sp>
      <p:sp>
        <p:nvSpPr>
          <p:cNvPr id="11" name="Shape 9"/>
          <p:cNvSpPr/>
          <p:nvPr/>
        </p:nvSpPr>
        <p:spPr>
          <a:xfrm>
            <a:off x="5875020" y="2651760"/>
            <a:ext cx="3017520" cy="1737360"/>
          </a:xfrm>
          <a:prstGeom prst="roundRect">
            <a:avLst>
              <a:gd name="adj" fmla="val 5263"/>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12" name="Text 10"/>
          <p:cNvSpPr/>
          <p:nvPr/>
        </p:nvSpPr>
        <p:spPr>
          <a:xfrm>
            <a:off x="5989320" y="2793492"/>
            <a:ext cx="2743200" cy="292608"/>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Objectives</a:t>
            </a:r>
            <a:endParaRPr lang="en-US" sz="1100" dirty="0"/>
          </a:p>
        </p:txBody>
      </p:sp>
      <p:sp>
        <p:nvSpPr>
          <p:cNvPr id="13" name="Text 11"/>
          <p:cNvSpPr/>
          <p:nvPr/>
        </p:nvSpPr>
        <p:spPr>
          <a:xfrm>
            <a:off x="5989320" y="3154680"/>
            <a:ext cx="2788920" cy="1073427"/>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1. Analyze social media-driven stock manipulation.</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2. Examine Telegram's role in pump-and-dump schemes.</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3. Study SEBI enforcement actions.</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4. Evaluate investor losses through Excel-based analysis.</a:t>
            </a:r>
            <a:endParaRPr lang="en-US" sz="900" dirty="0"/>
          </a:p>
        </p:txBody>
      </p:sp>
      <p:sp>
        <p:nvSpPr>
          <p:cNvPr id="15" name="Text 13"/>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Literature Background &amp; Fraud Architecture</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3657600" cy="1508760"/>
          </a:xfrm>
          <a:prstGeom prst="roundRect">
            <a:avLst>
              <a:gd name="adj" fmla="val 6061"/>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6" name="Text 4"/>
          <p:cNvSpPr/>
          <p:nvPr/>
        </p:nvSpPr>
        <p:spPr>
          <a:xfrm>
            <a:off x="411480" y="914400"/>
            <a:ext cx="338328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Social Media and Financial Markets</a:t>
            </a:r>
            <a:endParaRPr lang="en-US" sz="1100" dirty="0"/>
          </a:p>
        </p:txBody>
      </p:sp>
      <p:sp>
        <p:nvSpPr>
          <p:cNvPr id="7" name="Text 5"/>
          <p:cNvSpPr/>
          <p:nvPr/>
        </p:nvSpPr>
        <p:spPr>
          <a:xfrm>
            <a:off x="411480" y="1216152"/>
            <a:ext cx="3383280" cy="1115568"/>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Social media platforms have transformed how investment information is shared. Financial influencers ("Finfluencers") can reach thousands of investors instantly.</a:t>
            </a:r>
            <a:endParaRPr lang="en-US" sz="900" dirty="0"/>
          </a:p>
          <a:p>
            <a:pPr marL="0" indent="0">
              <a:buNone/>
            </a:pP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While some provide educational content, others misuse their influence to promote stocks for personal financial gain.</a:t>
            </a:r>
            <a:endParaRPr lang="en-US" sz="900" dirty="0"/>
          </a:p>
        </p:txBody>
      </p:sp>
      <p:sp>
        <p:nvSpPr>
          <p:cNvPr id="8" name="Shape 6"/>
          <p:cNvSpPr/>
          <p:nvPr/>
        </p:nvSpPr>
        <p:spPr>
          <a:xfrm>
            <a:off x="274320" y="2514600"/>
            <a:ext cx="3657600" cy="1920240"/>
          </a:xfrm>
          <a:prstGeom prst="roundRect">
            <a:avLst>
              <a:gd name="adj" fmla="val 476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9" name="Text 7"/>
          <p:cNvSpPr/>
          <p:nvPr/>
        </p:nvSpPr>
        <p:spPr>
          <a:xfrm>
            <a:off x="411480" y="2578608"/>
            <a:ext cx="338328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Why Telegram?</a:t>
            </a:r>
            <a:endParaRPr lang="en-US" sz="1100" dirty="0"/>
          </a:p>
        </p:txBody>
      </p:sp>
      <p:sp>
        <p:nvSpPr>
          <p:cNvPr id="11" name="Text 9"/>
          <p:cNvSpPr/>
          <p:nvPr/>
        </p:nvSpPr>
        <p:spPr>
          <a:xfrm>
            <a:off x="658368" y="2871216"/>
            <a:ext cx="3017520"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High anonymity</a:t>
            </a:r>
            <a:endParaRPr lang="en-US" sz="950" dirty="0"/>
          </a:p>
        </p:txBody>
      </p:sp>
      <p:sp>
        <p:nvSpPr>
          <p:cNvPr id="13" name="Text 11"/>
          <p:cNvSpPr/>
          <p:nvPr/>
        </p:nvSpPr>
        <p:spPr>
          <a:xfrm>
            <a:off x="658368" y="3163824"/>
            <a:ext cx="3017520"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Large channel capacities</a:t>
            </a:r>
            <a:endParaRPr lang="en-US" sz="950" dirty="0"/>
          </a:p>
        </p:txBody>
      </p:sp>
      <p:sp>
        <p:nvSpPr>
          <p:cNvPr id="15" name="Text 13"/>
          <p:cNvSpPr/>
          <p:nvPr/>
        </p:nvSpPr>
        <p:spPr>
          <a:xfrm>
            <a:off x="658368" y="3456432"/>
            <a:ext cx="3017520"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Automated bots</a:t>
            </a:r>
            <a:endParaRPr lang="en-US" sz="950" dirty="0"/>
          </a:p>
        </p:txBody>
      </p:sp>
      <p:sp>
        <p:nvSpPr>
          <p:cNvPr id="17" name="Text 15"/>
          <p:cNvSpPr/>
          <p:nvPr/>
        </p:nvSpPr>
        <p:spPr>
          <a:xfrm>
            <a:off x="658368" y="3749040"/>
            <a:ext cx="3017520"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Fast message forwarding</a:t>
            </a:r>
            <a:endParaRPr lang="en-US" sz="950" dirty="0"/>
          </a:p>
        </p:txBody>
      </p:sp>
      <p:sp>
        <p:nvSpPr>
          <p:cNvPr id="19" name="Text 17"/>
          <p:cNvSpPr/>
          <p:nvPr/>
        </p:nvSpPr>
        <p:spPr>
          <a:xfrm>
            <a:off x="658368" y="4041648"/>
            <a:ext cx="3017520"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Difficulty identifying administrators</a:t>
            </a:r>
            <a:endParaRPr lang="en-US" sz="950" dirty="0"/>
          </a:p>
        </p:txBody>
      </p:sp>
      <p:sp>
        <p:nvSpPr>
          <p:cNvPr id="20" name="Shape 18"/>
          <p:cNvSpPr/>
          <p:nvPr/>
        </p:nvSpPr>
        <p:spPr>
          <a:xfrm>
            <a:off x="4206240" y="868680"/>
            <a:ext cx="4663440" cy="4090946"/>
          </a:xfrm>
          <a:prstGeom prst="roundRect">
            <a:avLst>
              <a:gd name="adj" fmla="val 2564"/>
            </a:avLst>
          </a:prstGeom>
          <a:solidFill>
            <a:srgbClr val="FFFFFF"/>
          </a:solidFill>
          <a:ln w="12700">
            <a:solidFill>
              <a:srgbClr val="E2E8F0"/>
            </a:solidFill>
            <a:prstDash val="solid"/>
          </a:ln>
          <a:effectLst>
            <a:outerShdw blurRad="63500" dist="25400" dir="2700000" algn="bl" rotWithShape="0">
              <a:srgbClr val="000000">
                <a:alpha val="8000"/>
              </a:srgbClr>
            </a:outerShdw>
          </a:effectLst>
        </p:spPr>
      </p:sp>
      <p:sp>
        <p:nvSpPr>
          <p:cNvPr id="21" name="Text 19"/>
          <p:cNvSpPr/>
          <p:nvPr/>
        </p:nvSpPr>
        <p:spPr>
          <a:xfrm>
            <a:off x="4343400" y="964966"/>
            <a:ext cx="438912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Multi-Channel Fraud Funnel</a:t>
            </a:r>
            <a:endParaRPr lang="en-US" sz="1100" dirty="0"/>
          </a:p>
        </p:txBody>
      </p:sp>
      <p:sp>
        <p:nvSpPr>
          <p:cNvPr id="22" name="Shape 20"/>
          <p:cNvSpPr/>
          <p:nvPr/>
        </p:nvSpPr>
        <p:spPr>
          <a:xfrm>
            <a:off x="4343400" y="1351102"/>
            <a:ext cx="4297680" cy="347472"/>
          </a:xfrm>
          <a:prstGeom prst="roundRect">
            <a:avLst>
              <a:gd name="adj" fmla="val 15789"/>
            </a:avLst>
          </a:prstGeom>
          <a:solidFill>
            <a:schemeClr val="accent1">
              <a:lumMod val="5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23" name="Text 21"/>
          <p:cNvSpPr/>
          <p:nvPr/>
        </p:nvSpPr>
        <p:spPr>
          <a:xfrm>
            <a:off x="4343400" y="1389963"/>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X (Twitter) – Public Promotion</a:t>
            </a:r>
            <a:endParaRPr lang="en-US" sz="950" dirty="0"/>
          </a:p>
        </p:txBody>
      </p:sp>
      <p:sp>
        <p:nvSpPr>
          <p:cNvPr id="24" name="Text 22"/>
          <p:cNvSpPr/>
          <p:nvPr/>
        </p:nvSpPr>
        <p:spPr>
          <a:xfrm>
            <a:off x="6126480" y="1707792"/>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25" name="Shape 23"/>
          <p:cNvSpPr/>
          <p:nvPr/>
        </p:nvSpPr>
        <p:spPr>
          <a:xfrm>
            <a:off x="4343400" y="1888435"/>
            <a:ext cx="4297680" cy="347472"/>
          </a:xfrm>
          <a:prstGeom prst="roundRect">
            <a:avLst>
              <a:gd name="adj" fmla="val 15789"/>
            </a:avLst>
          </a:prstGeom>
          <a:solidFill>
            <a:schemeClr val="accent5">
              <a:lumMod val="75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26" name="Text 24"/>
          <p:cNvSpPr/>
          <p:nvPr/>
        </p:nvSpPr>
        <p:spPr>
          <a:xfrm>
            <a:off x="4343400" y="1897828"/>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WhatsApp Groups</a:t>
            </a:r>
            <a:endParaRPr lang="en-US" sz="950" dirty="0"/>
          </a:p>
        </p:txBody>
      </p:sp>
      <p:sp>
        <p:nvSpPr>
          <p:cNvPr id="27" name="Text 25"/>
          <p:cNvSpPr/>
          <p:nvPr/>
        </p:nvSpPr>
        <p:spPr>
          <a:xfrm>
            <a:off x="6126480" y="2216327"/>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28" name="Shape 26"/>
          <p:cNvSpPr/>
          <p:nvPr/>
        </p:nvSpPr>
        <p:spPr>
          <a:xfrm>
            <a:off x="4343400" y="2392945"/>
            <a:ext cx="4297680" cy="347472"/>
          </a:xfrm>
          <a:prstGeom prst="roundRect">
            <a:avLst>
              <a:gd name="adj" fmla="val 15789"/>
            </a:avLst>
          </a:prstGeom>
          <a:solidFill>
            <a:schemeClr val="accent5">
              <a:lumMod val="75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29" name="Text 27"/>
          <p:cNvSpPr/>
          <p:nvPr/>
        </p:nvSpPr>
        <p:spPr>
          <a:xfrm>
            <a:off x="4343400" y="2404177"/>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Telegram Channels – Stock Tips</a:t>
            </a:r>
            <a:endParaRPr lang="en-US" sz="950" dirty="0"/>
          </a:p>
        </p:txBody>
      </p:sp>
      <p:sp>
        <p:nvSpPr>
          <p:cNvPr id="30" name="Text 28"/>
          <p:cNvSpPr/>
          <p:nvPr/>
        </p:nvSpPr>
        <p:spPr>
          <a:xfrm>
            <a:off x="6126480" y="2763178"/>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4343400" y="2959078"/>
            <a:ext cx="4297680" cy="347472"/>
          </a:xfrm>
          <a:prstGeom prst="roundRect">
            <a:avLst>
              <a:gd name="adj" fmla="val 15789"/>
            </a:avLst>
          </a:prstGeom>
          <a:solidFill>
            <a:schemeClr val="accent1">
              <a:lumMod val="40000"/>
              <a:lumOff val="6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2" name="Text 30"/>
          <p:cNvSpPr/>
          <p:nvPr/>
        </p:nvSpPr>
        <p:spPr>
          <a:xfrm>
            <a:off x="4343400" y="2999232"/>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Retail FOMO Buying</a:t>
            </a:r>
            <a:endParaRPr lang="en-US" sz="950" dirty="0"/>
          </a:p>
        </p:txBody>
      </p:sp>
      <p:sp>
        <p:nvSpPr>
          <p:cNvPr id="33" name="Text 31"/>
          <p:cNvSpPr/>
          <p:nvPr/>
        </p:nvSpPr>
        <p:spPr>
          <a:xfrm>
            <a:off x="6140792" y="3309333"/>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34" name="Shape 32"/>
          <p:cNvSpPr/>
          <p:nvPr/>
        </p:nvSpPr>
        <p:spPr>
          <a:xfrm>
            <a:off x="4343400" y="3479093"/>
            <a:ext cx="4297680" cy="347472"/>
          </a:xfrm>
          <a:prstGeom prst="roundRect">
            <a:avLst>
              <a:gd name="adj" fmla="val 15789"/>
            </a:avLst>
          </a:prstGeom>
          <a:solidFill>
            <a:schemeClr val="accent1">
              <a:lumMod val="20000"/>
              <a:lumOff val="8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5" name="Text 33"/>
          <p:cNvSpPr/>
          <p:nvPr/>
        </p:nvSpPr>
        <p:spPr>
          <a:xfrm>
            <a:off x="4315968" y="3497381"/>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Artificial Price Increase</a:t>
            </a:r>
            <a:endParaRPr lang="en-US" sz="950" dirty="0"/>
          </a:p>
        </p:txBody>
      </p:sp>
      <p:sp>
        <p:nvSpPr>
          <p:cNvPr id="36" name="Text 34"/>
          <p:cNvSpPr/>
          <p:nvPr/>
        </p:nvSpPr>
        <p:spPr>
          <a:xfrm>
            <a:off x="6135226" y="3827957"/>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37" name="Shape 35"/>
          <p:cNvSpPr/>
          <p:nvPr/>
        </p:nvSpPr>
        <p:spPr>
          <a:xfrm>
            <a:off x="4315968" y="3986784"/>
            <a:ext cx="4297680" cy="347472"/>
          </a:xfrm>
          <a:prstGeom prst="roundRect">
            <a:avLst>
              <a:gd name="adj" fmla="val 15789"/>
            </a:avLst>
          </a:prstGeom>
          <a:solidFill>
            <a:schemeClr val="tx2">
              <a:lumMod val="40000"/>
              <a:lumOff val="6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8" name="Text 36"/>
          <p:cNvSpPr/>
          <p:nvPr/>
        </p:nvSpPr>
        <p:spPr>
          <a:xfrm>
            <a:off x="4315968" y="4036877"/>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Operator Exit</a:t>
            </a:r>
            <a:endParaRPr lang="en-US" sz="950" dirty="0"/>
          </a:p>
        </p:txBody>
      </p:sp>
      <p:sp>
        <p:nvSpPr>
          <p:cNvPr id="39" name="Text 37"/>
          <p:cNvSpPr/>
          <p:nvPr/>
        </p:nvSpPr>
        <p:spPr>
          <a:xfrm>
            <a:off x="6126480" y="4349761"/>
            <a:ext cx="457200" cy="182880"/>
          </a:xfrm>
          <a:prstGeom prst="rect">
            <a:avLst/>
          </a:prstGeom>
          <a:noFill/>
          <a:ln/>
        </p:spPr>
        <p:txBody>
          <a:bodyPr wrap="square" lIns="0" tIns="0" rIns="0" bIns="0"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a:t>
            </a:r>
            <a:endParaRPr lang="en-US" sz="1000" dirty="0"/>
          </a:p>
        </p:txBody>
      </p:sp>
      <p:sp>
        <p:nvSpPr>
          <p:cNvPr id="40" name="Shape 38"/>
          <p:cNvSpPr/>
          <p:nvPr/>
        </p:nvSpPr>
        <p:spPr>
          <a:xfrm>
            <a:off x="4343400" y="4513558"/>
            <a:ext cx="4297680" cy="347472"/>
          </a:xfrm>
          <a:prstGeom prst="roundRect">
            <a:avLst>
              <a:gd name="adj" fmla="val 15789"/>
            </a:avLst>
          </a:prstGeom>
          <a:solidFill>
            <a:schemeClr val="bg2">
              <a:lumMod val="9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41" name="Text 39"/>
          <p:cNvSpPr/>
          <p:nvPr/>
        </p:nvSpPr>
        <p:spPr>
          <a:xfrm>
            <a:off x="4343400" y="4513558"/>
            <a:ext cx="4297680" cy="329184"/>
          </a:xfrm>
          <a:prstGeom prst="rect">
            <a:avLst/>
          </a:prstGeom>
          <a:noFill/>
          <a:ln/>
        </p:spPr>
        <p:txBody>
          <a:bodyPr wrap="square" lIns="0" tIns="0" rIns="0" bIns="0" rtlCol="0" anchor="ctr"/>
          <a:lstStyle/>
          <a:p>
            <a:pPr marL="0" indent="0" algn="ctr">
              <a:buNone/>
            </a:pPr>
            <a:r>
              <a:rPr lang="en-US" sz="950" b="1" dirty="0">
                <a:latin typeface="Calibri" pitchFamily="34" charset="0"/>
                <a:ea typeface="Calibri" pitchFamily="34" charset="-122"/>
                <a:cs typeface="Calibri" pitchFamily="34" charset="-120"/>
              </a:rPr>
              <a:t>Market Crash</a:t>
            </a:r>
            <a:endParaRPr lang="en-US" sz="950" dirty="0"/>
          </a:p>
        </p:txBody>
      </p:sp>
      <p:sp>
        <p:nvSpPr>
          <p:cNvPr id="43" name="Text 41"/>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r>
              <a:rPr lang="en-US" sz="1900" b="1" dirty="0">
                <a:solidFill>
                  <a:srgbClr val="FFFFFF"/>
                </a:solidFill>
                <a:latin typeface="Calibri" pitchFamily="34" charset="0"/>
                <a:ea typeface="Calibri" pitchFamily="34" charset="-122"/>
                <a:cs typeface="Calibri" pitchFamily="34" charset="-120"/>
              </a:rPr>
              <a:t>How the Pump-and-Dump Scheme </a:t>
            </a:r>
            <a:r>
              <a:rPr lang="en-US" sz="1900" b="1" dirty="0" smtClean="0">
                <a:solidFill>
                  <a:srgbClr val="FFFFFF"/>
                </a:solidFill>
                <a:latin typeface="Calibri" pitchFamily="34" charset="0"/>
                <a:ea typeface="Calibri" pitchFamily="34" charset="-122"/>
                <a:cs typeface="Calibri" pitchFamily="34" charset="-120"/>
              </a:rPr>
              <a:t>Works : </a:t>
            </a:r>
            <a:r>
              <a:rPr lang="en-US" sz="2000" dirty="0">
                <a:solidFill>
                  <a:srgbClr val="AECBF0"/>
                </a:solidFill>
                <a:latin typeface="Calibri" pitchFamily="34" charset="0"/>
                <a:ea typeface="Calibri" pitchFamily="34" charset="-122"/>
                <a:cs typeface="Calibri" pitchFamily="34" charset="-120"/>
              </a:rPr>
              <a:t>5-Stage Fraud </a:t>
            </a:r>
            <a:r>
              <a:rPr lang="en-US" sz="2000" dirty="0" smtClean="0">
                <a:solidFill>
                  <a:srgbClr val="AECBF0"/>
                </a:solidFill>
                <a:latin typeface="Calibri" pitchFamily="34" charset="0"/>
                <a:ea typeface="Calibri" pitchFamily="34" charset="-122"/>
                <a:cs typeface="Calibri" pitchFamily="34" charset="-120"/>
              </a:rPr>
              <a:t>Lifecycle</a:t>
            </a:r>
            <a:endParaRPr lang="en-US" sz="20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1600200" cy="3749040"/>
          </a:xfrm>
          <a:prstGeom prst="roundRect">
            <a:avLst>
              <a:gd name="adj" fmla="val 5714"/>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6" name="Shape 4"/>
          <p:cNvSpPr/>
          <p:nvPr/>
        </p:nvSpPr>
        <p:spPr>
          <a:xfrm>
            <a:off x="274320" y="868680"/>
            <a:ext cx="1600200" cy="685800"/>
          </a:xfrm>
          <a:prstGeom prst="roundRect">
            <a:avLst>
              <a:gd name="adj" fmla="val 13333"/>
            </a:avLst>
          </a:prstGeom>
          <a:solidFill>
            <a:schemeClr val="accent1">
              <a:lumMod val="5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7" name="Shape 5"/>
          <p:cNvSpPr/>
          <p:nvPr/>
        </p:nvSpPr>
        <p:spPr>
          <a:xfrm>
            <a:off x="841248" y="987552"/>
            <a:ext cx="457200" cy="457200"/>
          </a:xfrm>
          <a:prstGeom prst="ellipse">
            <a:avLst/>
          </a:prstGeom>
          <a:solidFill>
            <a:srgbClr val="FFFFFF"/>
          </a:solidFill>
          <a:ln w="12700">
            <a:solidFill>
              <a:srgbClr val="FFFFFF"/>
            </a:solidFill>
            <a:prstDash val="solid"/>
          </a:ln>
        </p:spPr>
      </p:sp>
      <p:sp>
        <p:nvSpPr>
          <p:cNvPr id="8" name="Text 6"/>
          <p:cNvSpPr/>
          <p:nvPr/>
        </p:nvSpPr>
        <p:spPr>
          <a:xfrm>
            <a:off x="841248" y="987552"/>
            <a:ext cx="457200" cy="457200"/>
          </a:xfrm>
          <a:prstGeom prst="rect">
            <a:avLst/>
          </a:prstGeom>
          <a:noFill/>
          <a:ln/>
        </p:spPr>
        <p:txBody>
          <a:bodyPr wrap="square" lIns="0" tIns="0" rIns="0" bIns="0" rtlCol="0" anchor="ctr"/>
          <a:lstStyle/>
          <a:p>
            <a:pPr marL="0" indent="0" algn="ctr">
              <a:buNone/>
            </a:pPr>
            <a:r>
              <a:rPr lang="en-US" sz="1400" b="1" dirty="0">
                <a:latin typeface="Calibri" pitchFamily="34" charset="0"/>
                <a:ea typeface="Calibri" pitchFamily="34" charset="-122"/>
                <a:cs typeface="Calibri" pitchFamily="34" charset="-120"/>
              </a:rPr>
              <a:t>1</a:t>
            </a:r>
            <a:endParaRPr lang="en-US" sz="1400" dirty="0"/>
          </a:p>
        </p:txBody>
      </p:sp>
      <p:sp>
        <p:nvSpPr>
          <p:cNvPr id="9" name="Text 7"/>
          <p:cNvSpPr/>
          <p:nvPr/>
        </p:nvSpPr>
        <p:spPr>
          <a:xfrm>
            <a:off x="274320" y="1490472"/>
            <a:ext cx="1600200" cy="731520"/>
          </a:xfrm>
          <a:prstGeom prst="rect">
            <a:avLst/>
          </a:prstGeom>
          <a:noFill/>
          <a:ln/>
        </p:spPr>
        <p:txBody>
          <a:bodyPr wrap="square" lIns="0" tIns="0" rIns="0" bIns="0" rtlCol="0" anchor="ctr"/>
          <a:lstStyle/>
          <a:p>
            <a:pPr marL="0" indent="0" algn="ctr">
              <a:buNone/>
            </a:pPr>
            <a:r>
              <a:rPr lang="en-US" sz="1500" b="1" dirty="0">
                <a:solidFill>
                  <a:srgbClr val="1A3F7A"/>
                </a:solidFill>
                <a:latin typeface="Calibri" pitchFamily="34" charset="0"/>
                <a:ea typeface="Calibri" pitchFamily="34" charset="-122"/>
                <a:cs typeface="Calibri" pitchFamily="34" charset="-120"/>
              </a:rPr>
              <a:t>Accumulation</a:t>
            </a:r>
            <a:endParaRPr lang="en-US" sz="1500" dirty="0"/>
          </a:p>
        </p:txBody>
      </p:sp>
      <p:sp>
        <p:nvSpPr>
          <p:cNvPr id="10" name="Text 8"/>
          <p:cNvSpPr/>
          <p:nvPr/>
        </p:nvSpPr>
        <p:spPr>
          <a:xfrm>
            <a:off x="365760" y="1810512"/>
            <a:ext cx="1417320" cy="26517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Fraudsters quietly purchase large quantities of illiquid small-cap or SME stocks while prices remain low.</a:t>
            </a:r>
            <a:endParaRPr lang="en-US" sz="1100" dirty="0"/>
          </a:p>
        </p:txBody>
      </p:sp>
      <p:sp>
        <p:nvSpPr>
          <p:cNvPr id="11" name="Text 9"/>
          <p:cNvSpPr/>
          <p:nvPr/>
        </p:nvSpPr>
        <p:spPr>
          <a:xfrm>
            <a:off x="1874520" y="2468880"/>
            <a:ext cx="137160" cy="274320"/>
          </a:xfrm>
          <a:prstGeom prst="rect">
            <a:avLst/>
          </a:prstGeom>
          <a:noFill/>
          <a:ln/>
        </p:spPr>
        <p:txBody>
          <a:bodyPr wrap="square" lIns="0" tIns="0" rIns="0" bIns="0" rtlCol="0" anchor="ctr"/>
          <a:lstStyle/>
          <a:p>
            <a:pPr marL="0" indent="0" algn="ctr">
              <a:buNone/>
            </a:pPr>
            <a:r>
              <a:rPr lang="en-US" sz="1400" b="1" dirty="0">
                <a:solidFill>
                  <a:srgbClr val="E2E8F0"/>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011680" y="868680"/>
            <a:ext cx="1600200" cy="3749040"/>
          </a:xfrm>
          <a:prstGeom prst="roundRect">
            <a:avLst>
              <a:gd name="adj" fmla="val 5714"/>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13" name="Shape 11"/>
          <p:cNvSpPr/>
          <p:nvPr/>
        </p:nvSpPr>
        <p:spPr>
          <a:xfrm>
            <a:off x="2011680" y="868680"/>
            <a:ext cx="1600200" cy="685800"/>
          </a:xfrm>
          <a:prstGeom prst="roundRect">
            <a:avLst>
              <a:gd name="adj" fmla="val 13333"/>
            </a:avLst>
          </a:prstGeom>
          <a:solidFill>
            <a:schemeClr val="accent1">
              <a:lumMod val="75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14" name="Shape 12"/>
          <p:cNvSpPr/>
          <p:nvPr/>
        </p:nvSpPr>
        <p:spPr>
          <a:xfrm>
            <a:off x="2578608" y="987552"/>
            <a:ext cx="457200" cy="457200"/>
          </a:xfrm>
          <a:prstGeom prst="ellipse">
            <a:avLst/>
          </a:prstGeom>
          <a:solidFill>
            <a:srgbClr val="FFFFFF"/>
          </a:solidFill>
          <a:ln w="12700">
            <a:solidFill>
              <a:srgbClr val="FFFFFF"/>
            </a:solidFill>
            <a:prstDash val="solid"/>
          </a:ln>
        </p:spPr>
      </p:sp>
      <p:sp>
        <p:nvSpPr>
          <p:cNvPr id="15" name="Text 13"/>
          <p:cNvSpPr/>
          <p:nvPr/>
        </p:nvSpPr>
        <p:spPr>
          <a:xfrm>
            <a:off x="2578608" y="987552"/>
            <a:ext cx="457200" cy="457200"/>
          </a:xfrm>
          <a:prstGeom prst="rect">
            <a:avLst/>
          </a:prstGeom>
          <a:noFill/>
          <a:ln/>
        </p:spPr>
        <p:txBody>
          <a:bodyPr wrap="square" lIns="0" tIns="0" rIns="0" bIns="0" rtlCol="0" anchor="ctr"/>
          <a:lstStyle/>
          <a:p>
            <a:pPr marL="0" indent="0" algn="ctr">
              <a:buNone/>
            </a:pPr>
            <a:r>
              <a:rPr lang="en-US" sz="1400" b="1" dirty="0">
                <a:latin typeface="Calibri" pitchFamily="34" charset="0"/>
                <a:ea typeface="Calibri" pitchFamily="34" charset="-122"/>
                <a:cs typeface="Calibri" pitchFamily="34" charset="-120"/>
              </a:rPr>
              <a:t>2</a:t>
            </a:r>
            <a:endParaRPr lang="en-US" sz="1400" dirty="0"/>
          </a:p>
        </p:txBody>
      </p:sp>
      <p:sp>
        <p:nvSpPr>
          <p:cNvPr id="16" name="Text 14"/>
          <p:cNvSpPr/>
          <p:nvPr/>
        </p:nvSpPr>
        <p:spPr>
          <a:xfrm>
            <a:off x="2011680" y="1490472"/>
            <a:ext cx="1600200" cy="640080"/>
          </a:xfrm>
          <a:prstGeom prst="rect">
            <a:avLst/>
          </a:prstGeom>
          <a:noFill/>
          <a:ln/>
        </p:spPr>
        <p:txBody>
          <a:bodyPr wrap="square" lIns="0" tIns="0" rIns="0" bIns="0" rtlCol="0" anchor="ctr"/>
          <a:lstStyle/>
          <a:p>
            <a:pPr marL="0" indent="0" algn="ctr">
              <a:buNone/>
            </a:pPr>
            <a:r>
              <a:rPr lang="en-US" sz="1500" b="1" dirty="0">
                <a:solidFill>
                  <a:srgbClr val="1A3F7A"/>
                </a:solidFill>
                <a:latin typeface="Calibri" pitchFamily="34" charset="0"/>
                <a:ea typeface="Calibri" pitchFamily="34" charset="-122"/>
                <a:cs typeface="Calibri" pitchFamily="34" charset="-120"/>
              </a:rPr>
              <a:t>Promotion</a:t>
            </a:r>
            <a:endParaRPr lang="en-US" sz="1500" dirty="0"/>
          </a:p>
        </p:txBody>
      </p:sp>
      <p:sp>
        <p:nvSpPr>
          <p:cNvPr id="17" name="Text 15"/>
          <p:cNvSpPr/>
          <p:nvPr/>
        </p:nvSpPr>
        <p:spPr>
          <a:xfrm>
            <a:off x="2103120" y="1810512"/>
            <a:ext cx="1417320" cy="2651760"/>
          </a:xfrm>
          <a:prstGeom prst="rect">
            <a:avLst/>
          </a:prstGeom>
          <a:noFill/>
          <a:ln/>
        </p:spPr>
        <p:txBody>
          <a:bodyPr wrap="square" lIns="0" tIns="0" rIns="0" bIns="0" rtlCol="0" anchor="ctr"/>
          <a:lstStyle/>
          <a:p>
            <a:r>
              <a:rPr lang="en-US" sz="1100" dirty="0">
                <a:solidFill>
                  <a:srgbClr val="1A1A2E"/>
                </a:solidFill>
                <a:latin typeface="Calibri" pitchFamily="34" charset="0"/>
                <a:ea typeface="Calibri" pitchFamily="34" charset="-122"/>
                <a:cs typeface="Calibri" pitchFamily="34" charset="-120"/>
              </a:rPr>
              <a:t>Stock recommendations circulated via Telegram:</a:t>
            </a:r>
          </a:p>
          <a:p>
            <a:r>
              <a:rPr lang="en-US" sz="1100" dirty="0">
                <a:solidFill>
                  <a:srgbClr val="1A1A2E"/>
                </a:solidFill>
                <a:latin typeface="Calibri" pitchFamily="34" charset="0"/>
                <a:ea typeface="Calibri" pitchFamily="34" charset="-122"/>
                <a:cs typeface="Calibri" pitchFamily="34" charset="-120"/>
              </a:rPr>
              <a:t>• "Multibagger Stock"</a:t>
            </a:r>
          </a:p>
          <a:p>
            <a:r>
              <a:rPr lang="en-US" sz="1100" dirty="0">
                <a:solidFill>
                  <a:srgbClr val="1A1A2E"/>
                </a:solidFill>
                <a:latin typeface="Calibri" pitchFamily="34" charset="0"/>
                <a:ea typeface="Calibri" pitchFamily="34" charset="-122"/>
                <a:cs typeface="Calibri" pitchFamily="34" charset="-120"/>
              </a:rPr>
              <a:t>• "Guaranteed Returns"</a:t>
            </a:r>
          </a:p>
          <a:p>
            <a:r>
              <a:rPr lang="en-US" sz="1100" dirty="0">
                <a:solidFill>
                  <a:srgbClr val="1A1A2E"/>
                </a:solidFill>
                <a:latin typeface="Calibri" pitchFamily="34" charset="0"/>
                <a:ea typeface="Calibri" pitchFamily="34" charset="-122"/>
                <a:cs typeface="Calibri" pitchFamily="34" charset="-120"/>
              </a:rPr>
              <a:t>• "Target 200%"</a:t>
            </a:r>
          </a:p>
        </p:txBody>
      </p:sp>
      <p:sp>
        <p:nvSpPr>
          <p:cNvPr id="18" name="Text 16"/>
          <p:cNvSpPr/>
          <p:nvPr/>
        </p:nvSpPr>
        <p:spPr>
          <a:xfrm>
            <a:off x="3611880" y="2468880"/>
            <a:ext cx="137160" cy="274320"/>
          </a:xfrm>
          <a:prstGeom prst="rect">
            <a:avLst/>
          </a:prstGeom>
          <a:noFill/>
          <a:ln/>
        </p:spPr>
        <p:txBody>
          <a:bodyPr wrap="square" lIns="0" tIns="0" rIns="0" bIns="0" rtlCol="0" anchor="ctr"/>
          <a:lstStyle/>
          <a:p>
            <a:pPr marL="0" indent="0" algn="ctr">
              <a:buNone/>
            </a:pPr>
            <a:r>
              <a:rPr lang="en-US" sz="1400" b="1" dirty="0">
                <a:solidFill>
                  <a:srgbClr val="E2E8F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3749040" y="868680"/>
            <a:ext cx="1600200" cy="3749040"/>
          </a:xfrm>
          <a:prstGeom prst="roundRect">
            <a:avLst>
              <a:gd name="adj" fmla="val 5714"/>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20" name="Shape 18"/>
          <p:cNvSpPr/>
          <p:nvPr/>
        </p:nvSpPr>
        <p:spPr>
          <a:xfrm>
            <a:off x="3749040" y="868680"/>
            <a:ext cx="1600200" cy="685800"/>
          </a:xfrm>
          <a:prstGeom prst="roundRect">
            <a:avLst>
              <a:gd name="adj" fmla="val 13333"/>
            </a:avLst>
          </a:prstGeom>
          <a:solidFill>
            <a:schemeClr val="accent1">
              <a:lumMod val="60000"/>
              <a:lumOff val="4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21" name="Shape 19"/>
          <p:cNvSpPr/>
          <p:nvPr/>
        </p:nvSpPr>
        <p:spPr>
          <a:xfrm>
            <a:off x="4315968" y="987552"/>
            <a:ext cx="457200" cy="457200"/>
          </a:xfrm>
          <a:prstGeom prst="ellipse">
            <a:avLst/>
          </a:prstGeom>
          <a:solidFill>
            <a:srgbClr val="FFFFFF"/>
          </a:solidFill>
          <a:ln w="12700">
            <a:solidFill>
              <a:srgbClr val="FFFFFF"/>
            </a:solidFill>
            <a:prstDash val="solid"/>
          </a:ln>
        </p:spPr>
      </p:sp>
      <p:sp>
        <p:nvSpPr>
          <p:cNvPr id="22" name="Text 20"/>
          <p:cNvSpPr/>
          <p:nvPr/>
        </p:nvSpPr>
        <p:spPr>
          <a:xfrm>
            <a:off x="4315968" y="987552"/>
            <a:ext cx="457200" cy="457200"/>
          </a:xfrm>
          <a:prstGeom prst="rect">
            <a:avLst/>
          </a:prstGeom>
          <a:noFill/>
          <a:ln/>
        </p:spPr>
        <p:txBody>
          <a:bodyPr wrap="square" lIns="0" tIns="0" rIns="0" bIns="0" rtlCol="0" anchor="ctr"/>
          <a:lstStyle/>
          <a:p>
            <a:pPr marL="0" indent="0" algn="ctr">
              <a:buNone/>
            </a:pPr>
            <a:r>
              <a:rPr lang="en-US" sz="1400" b="1" dirty="0">
                <a:latin typeface="Calibri" pitchFamily="34" charset="0"/>
                <a:ea typeface="Calibri" pitchFamily="34" charset="-122"/>
                <a:cs typeface="Calibri" pitchFamily="34" charset="-120"/>
              </a:rPr>
              <a:t>3</a:t>
            </a:r>
            <a:endParaRPr lang="en-US" sz="1400" dirty="0"/>
          </a:p>
        </p:txBody>
      </p:sp>
      <p:sp>
        <p:nvSpPr>
          <p:cNvPr id="23" name="Text 21"/>
          <p:cNvSpPr/>
          <p:nvPr/>
        </p:nvSpPr>
        <p:spPr>
          <a:xfrm>
            <a:off x="3749040" y="1490472"/>
            <a:ext cx="1600200" cy="731520"/>
          </a:xfrm>
          <a:prstGeom prst="rect">
            <a:avLst/>
          </a:prstGeom>
          <a:noFill/>
          <a:ln/>
        </p:spPr>
        <p:txBody>
          <a:bodyPr wrap="square" lIns="0" tIns="0" rIns="0" bIns="0" rtlCol="0" anchor="ctr"/>
          <a:lstStyle/>
          <a:p>
            <a:pPr algn="ctr"/>
            <a:r>
              <a:rPr lang="en-US" sz="1500" b="1" dirty="0">
                <a:solidFill>
                  <a:srgbClr val="1A3F7A"/>
                </a:solidFill>
                <a:latin typeface="Calibri" pitchFamily="34" charset="0"/>
                <a:ea typeface="Calibri" pitchFamily="34" charset="-122"/>
                <a:cs typeface="Calibri" pitchFamily="34" charset="-120"/>
              </a:rPr>
              <a:t>Retail FOMO</a:t>
            </a:r>
          </a:p>
        </p:txBody>
      </p:sp>
      <p:sp>
        <p:nvSpPr>
          <p:cNvPr id="24" name="Text 22"/>
          <p:cNvSpPr/>
          <p:nvPr/>
        </p:nvSpPr>
        <p:spPr>
          <a:xfrm>
            <a:off x="3840480" y="1810512"/>
            <a:ext cx="1417320" cy="2651760"/>
          </a:xfrm>
          <a:prstGeom prst="rect">
            <a:avLst/>
          </a:prstGeom>
          <a:noFill/>
          <a:ln/>
        </p:spPr>
        <p:txBody>
          <a:bodyPr wrap="square" lIns="0" tIns="0" rIns="0" bIns="0" rtlCol="0" anchor="ctr"/>
          <a:lstStyle/>
          <a:p>
            <a:pPr indent="0">
              <a:buNone/>
            </a:pPr>
            <a:r>
              <a:rPr lang="en-US" sz="1100" dirty="0">
                <a:solidFill>
                  <a:srgbClr val="1A1A2E"/>
                </a:solidFill>
                <a:latin typeface="Calibri" pitchFamily="34" charset="0"/>
                <a:ea typeface="Calibri" pitchFamily="34" charset="-122"/>
                <a:cs typeface="Calibri" pitchFamily="34" charset="-120"/>
              </a:rPr>
              <a:t>Retail investors buy shares due to fear of missing out, causing rapid increases in price and trading volume.</a:t>
            </a:r>
          </a:p>
        </p:txBody>
      </p:sp>
      <p:sp>
        <p:nvSpPr>
          <p:cNvPr id="25" name="Text 23"/>
          <p:cNvSpPr/>
          <p:nvPr/>
        </p:nvSpPr>
        <p:spPr>
          <a:xfrm>
            <a:off x="5349240" y="2468880"/>
            <a:ext cx="137160" cy="274320"/>
          </a:xfrm>
          <a:prstGeom prst="rect">
            <a:avLst/>
          </a:prstGeom>
          <a:noFill/>
          <a:ln/>
        </p:spPr>
        <p:txBody>
          <a:bodyPr wrap="square" lIns="0" tIns="0" rIns="0" bIns="0" rtlCol="0" anchor="ctr"/>
          <a:lstStyle/>
          <a:p>
            <a:pPr marL="0" indent="0" algn="ctr">
              <a:buNone/>
            </a:pPr>
            <a:r>
              <a:rPr lang="en-US" sz="1400" b="1" dirty="0">
                <a:solidFill>
                  <a:srgbClr val="E2E8F0"/>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5486400" y="868680"/>
            <a:ext cx="1600200" cy="3749040"/>
          </a:xfrm>
          <a:prstGeom prst="roundRect">
            <a:avLst>
              <a:gd name="adj" fmla="val 5714"/>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27" name="Shape 25"/>
          <p:cNvSpPr/>
          <p:nvPr/>
        </p:nvSpPr>
        <p:spPr>
          <a:xfrm>
            <a:off x="5486400" y="868680"/>
            <a:ext cx="1600200" cy="685800"/>
          </a:xfrm>
          <a:prstGeom prst="roundRect">
            <a:avLst>
              <a:gd name="adj" fmla="val 13333"/>
            </a:avLst>
          </a:prstGeom>
          <a:solidFill>
            <a:schemeClr val="accent1">
              <a:lumMod val="40000"/>
              <a:lumOff val="6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28" name="Shape 26"/>
          <p:cNvSpPr/>
          <p:nvPr/>
        </p:nvSpPr>
        <p:spPr>
          <a:xfrm>
            <a:off x="6053328" y="987552"/>
            <a:ext cx="457200" cy="457200"/>
          </a:xfrm>
          <a:prstGeom prst="ellipse">
            <a:avLst/>
          </a:prstGeom>
          <a:solidFill>
            <a:srgbClr val="FFFFFF"/>
          </a:solidFill>
          <a:ln w="12700">
            <a:solidFill>
              <a:srgbClr val="FFFFFF"/>
            </a:solidFill>
            <a:prstDash val="solid"/>
          </a:ln>
        </p:spPr>
      </p:sp>
      <p:sp>
        <p:nvSpPr>
          <p:cNvPr id="29" name="Text 27"/>
          <p:cNvSpPr/>
          <p:nvPr/>
        </p:nvSpPr>
        <p:spPr>
          <a:xfrm>
            <a:off x="6053328" y="987552"/>
            <a:ext cx="457200" cy="457200"/>
          </a:xfrm>
          <a:prstGeom prst="rect">
            <a:avLst/>
          </a:prstGeom>
          <a:noFill/>
          <a:ln/>
        </p:spPr>
        <p:txBody>
          <a:bodyPr wrap="square" lIns="0" tIns="0" rIns="0" bIns="0" rtlCol="0" anchor="ctr"/>
          <a:lstStyle/>
          <a:p>
            <a:pPr marL="0" indent="0" algn="ctr">
              <a:buNone/>
            </a:pPr>
            <a:r>
              <a:rPr lang="en-US" sz="1400" b="1" dirty="0">
                <a:latin typeface="Calibri" pitchFamily="34" charset="0"/>
                <a:ea typeface="Calibri" pitchFamily="34" charset="-122"/>
                <a:cs typeface="Calibri" pitchFamily="34" charset="-120"/>
              </a:rPr>
              <a:t>4</a:t>
            </a:r>
            <a:endParaRPr lang="en-US" sz="1400" dirty="0"/>
          </a:p>
        </p:txBody>
      </p:sp>
      <p:sp>
        <p:nvSpPr>
          <p:cNvPr id="30" name="Text 28"/>
          <p:cNvSpPr/>
          <p:nvPr/>
        </p:nvSpPr>
        <p:spPr>
          <a:xfrm>
            <a:off x="5486400" y="1490472"/>
            <a:ext cx="1600200" cy="640080"/>
          </a:xfrm>
          <a:prstGeom prst="rect">
            <a:avLst/>
          </a:prstGeom>
          <a:noFill/>
          <a:ln/>
        </p:spPr>
        <p:txBody>
          <a:bodyPr wrap="square" lIns="0" tIns="0" rIns="0" bIns="0" rtlCol="0" anchor="ctr"/>
          <a:lstStyle/>
          <a:p>
            <a:pPr indent="0" algn="ctr">
              <a:buNone/>
            </a:pPr>
            <a:r>
              <a:rPr lang="en-US" sz="1500" b="1" dirty="0">
                <a:solidFill>
                  <a:srgbClr val="1A3F7A"/>
                </a:solidFill>
                <a:latin typeface="Calibri" pitchFamily="34" charset="0"/>
                <a:ea typeface="Calibri" pitchFamily="34" charset="-122"/>
                <a:cs typeface="Calibri" pitchFamily="34" charset="-120"/>
              </a:rPr>
              <a:t>Dump</a:t>
            </a:r>
          </a:p>
        </p:txBody>
      </p:sp>
      <p:sp>
        <p:nvSpPr>
          <p:cNvPr id="31" name="Text 29"/>
          <p:cNvSpPr/>
          <p:nvPr/>
        </p:nvSpPr>
        <p:spPr>
          <a:xfrm>
            <a:off x="5577840" y="1810512"/>
            <a:ext cx="1417320" cy="2651760"/>
          </a:xfrm>
          <a:prstGeom prst="rect">
            <a:avLst/>
          </a:prstGeom>
          <a:noFill/>
          <a:ln/>
        </p:spPr>
        <p:txBody>
          <a:bodyPr wrap="square" lIns="0" tIns="0" rIns="0" bIns="0" rtlCol="0" anchor="ctr"/>
          <a:lstStyle/>
          <a:p>
            <a:r>
              <a:rPr lang="en-US" sz="1100" dirty="0">
                <a:solidFill>
                  <a:srgbClr val="1A1A2E"/>
                </a:solidFill>
                <a:latin typeface="Calibri" pitchFamily="34" charset="0"/>
                <a:ea typeface="Calibri" pitchFamily="34" charset="-122"/>
                <a:cs typeface="Calibri" pitchFamily="34" charset="-120"/>
              </a:rPr>
              <a:t>Operators sell their holdings at inflated prices while retail investors continue buying.</a:t>
            </a:r>
          </a:p>
        </p:txBody>
      </p:sp>
      <p:sp>
        <p:nvSpPr>
          <p:cNvPr id="32" name="Text 30"/>
          <p:cNvSpPr/>
          <p:nvPr/>
        </p:nvSpPr>
        <p:spPr>
          <a:xfrm>
            <a:off x="7086600" y="2468880"/>
            <a:ext cx="137160" cy="274320"/>
          </a:xfrm>
          <a:prstGeom prst="rect">
            <a:avLst/>
          </a:prstGeom>
          <a:noFill/>
          <a:ln/>
        </p:spPr>
        <p:txBody>
          <a:bodyPr wrap="square" lIns="0" tIns="0" rIns="0" bIns="0" rtlCol="0" anchor="ctr"/>
          <a:lstStyle/>
          <a:p>
            <a:pPr marL="0" indent="0" algn="ctr">
              <a:buNone/>
            </a:pPr>
            <a:r>
              <a:rPr lang="en-US" sz="1400" b="1" dirty="0">
                <a:solidFill>
                  <a:srgbClr val="E2E8F0"/>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7223760" y="868680"/>
            <a:ext cx="1600200" cy="3749040"/>
          </a:xfrm>
          <a:prstGeom prst="roundRect">
            <a:avLst>
              <a:gd name="adj" fmla="val 5714"/>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34" name="Shape 32"/>
          <p:cNvSpPr/>
          <p:nvPr/>
        </p:nvSpPr>
        <p:spPr>
          <a:xfrm>
            <a:off x="7223760" y="868680"/>
            <a:ext cx="1600200" cy="685800"/>
          </a:xfrm>
          <a:prstGeom prst="roundRect">
            <a:avLst>
              <a:gd name="adj" fmla="val 13333"/>
            </a:avLst>
          </a:prstGeom>
          <a:solidFill>
            <a:schemeClr val="accent1">
              <a:lumMod val="20000"/>
              <a:lumOff val="8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5" name="Shape 33"/>
          <p:cNvSpPr/>
          <p:nvPr/>
        </p:nvSpPr>
        <p:spPr>
          <a:xfrm>
            <a:off x="7790688" y="987552"/>
            <a:ext cx="457200" cy="457200"/>
          </a:xfrm>
          <a:prstGeom prst="ellipse">
            <a:avLst/>
          </a:prstGeom>
          <a:solidFill>
            <a:srgbClr val="FFFFFF"/>
          </a:solidFill>
          <a:ln w="12700">
            <a:solidFill>
              <a:srgbClr val="FFFFFF"/>
            </a:solidFill>
            <a:prstDash val="solid"/>
          </a:ln>
        </p:spPr>
      </p:sp>
      <p:sp>
        <p:nvSpPr>
          <p:cNvPr id="36" name="Text 34"/>
          <p:cNvSpPr/>
          <p:nvPr/>
        </p:nvSpPr>
        <p:spPr>
          <a:xfrm>
            <a:off x="7790688" y="987552"/>
            <a:ext cx="457200" cy="457200"/>
          </a:xfrm>
          <a:prstGeom prst="rect">
            <a:avLst/>
          </a:prstGeom>
          <a:noFill/>
          <a:ln/>
        </p:spPr>
        <p:txBody>
          <a:bodyPr wrap="square" lIns="0" tIns="0" rIns="0" bIns="0" rtlCol="0" anchor="ctr"/>
          <a:lstStyle/>
          <a:p>
            <a:pPr marL="0" indent="0" algn="ctr">
              <a:buNone/>
            </a:pPr>
            <a:r>
              <a:rPr lang="en-US" sz="1400" b="1" dirty="0">
                <a:latin typeface="Calibri" pitchFamily="34" charset="0"/>
                <a:ea typeface="Calibri" pitchFamily="34" charset="-122"/>
                <a:cs typeface="Calibri" pitchFamily="34" charset="-120"/>
              </a:rPr>
              <a:t>5</a:t>
            </a:r>
            <a:endParaRPr lang="en-US" sz="1400" dirty="0"/>
          </a:p>
        </p:txBody>
      </p:sp>
      <p:sp>
        <p:nvSpPr>
          <p:cNvPr id="37" name="Text 35"/>
          <p:cNvSpPr/>
          <p:nvPr/>
        </p:nvSpPr>
        <p:spPr>
          <a:xfrm>
            <a:off x="7223760" y="1490472"/>
            <a:ext cx="1600200" cy="640080"/>
          </a:xfrm>
          <a:prstGeom prst="rect">
            <a:avLst/>
          </a:prstGeom>
          <a:noFill/>
          <a:ln/>
        </p:spPr>
        <p:txBody>
          <a:bodyPr wrap="square" lIns="0" tIns="0" rIns="0" bIns="0" rtlCol="0" anchor="ctr"/>
          <a:lstStyle/>
          <a:p>
            <a:pPr algn="ctr"/>
            <a:r>
              <a:rPr lang="en-US" sz="1500" b="1" dirty="0">
                <a:solidFill>
                  <a:srgbClr val="1A3F7A"/>
                </a:solidFill>
                <a:latin typeface="Calibri" pitchFamily="34" charset="0"/>
                <a:ea typeface="Calibri" pitchFamily="34" charset="-122"/>
                <a:cs typeface="Calibri" pitchFamily="34" charset="-120"/>
              </a:rPr>
              <a:t>Crash</a:t>
            </a:r>
          </a:p>
        </p:txBody>
      </p:sp>
      <p:sp>
        <p:nvSpPr>
          <p:cNvPr id="38" name="Text 36"/>
          <p:cNvSpPr/>
          <p:nvPr/>
        </p:nvSpPr>
        <p:spPr>
          <a:xfrm>
            <a:off x="7315200" y="1810512"/>
            <a:ext cx="1417320" cy="2651760"/>
          </a:xfrm>
          <a:prstGeom prst="rect">
            <a:avLst/>
          </a:prstGeom>
          <a:noFill/>
          <a:ln/>
        </p:spPr>
        <p:txBody>
          <a:bodyPr wrap="square" lIns="0" tIns="0" rIns="0" bIns="0" rtlCol="0" anchor="ctr"/>
          <a:lstStyle/>
          <a:p>
            <a:pPr indent="0">
              <a:buNone/>
            </a:pPr>
            <a:r>
              <a:rPr lang="en-US" sz="1100" dirty="0">
                <a:solidFill>
                  <a:srgbClr val="1A1A2E"/>
                </a:solidFill>
                <a:latin typeface="Calibri" pitchFamily="34" charset="0"/>
                <a:ea typeface="Calibri" pitchFamily="34" charset="-122"/>
                <a:cs typeface="Calibri" pitchFamily="34" charset="-120"/>
              </a:rPr>
              <a:t>After operators exit, demand disappears and prices collapse, trapping investors with substantial losses.</a:t>
            </a:r>
          </a:p>
        </p:txBody>
      </p:sp>
      <p:sp>
        <p:nvSpPr>
          <p:cNvPr id="40" name="Text 38"/>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Case Study 1 – Hemant Gupta Fin-Fluencer Family Scam (2026)</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457200" y="868680"/>
            <a:ext cx="2468880" cy="914400"/>
          </a:xfrm>
          <a:prstGeom prst="roundRect">
            <a:avLst>
              <a:gd name="adj" fmla="val 10000"/>
            </a:avLst>
          </a:prstGeom>
          <a:solidFill>
            <a:schemeClr val="accent1">
              <a:lumMod val="5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6" name="Text 4"/>
          <p:cNvSpPr/>
          <p:nvPr/>
        </p:nvSpPr>
        <p:spPr>
          <a:xfrm>
            <a:off x="457200" y="896112"/>
            <a:ext cx="246888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7</a:t>
            </a:r>
            <a:endParaRPr lang="en-US" sz="2400" dirty="0"/>
          </a:p>
        </p:txBody>
      </p:sp>
      <p:sp>
        <p:nvSpPr>
          <p:cNvPr id="7" name="Text 5"/>
          <p:cNvSpPr/>
          <p:nvPr/>
        </p:nvSpPr>
        <p:spPr>
          <a:xfrm>
            <a:off x="457200" y="1371600"/>
            <a:ext cx="246888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Operators Involved</a:t>
            </a:r>
            <a:endParaRPr lang="en-US" sz="950" dirty="0"/>
          </a:p>
        </p:txBody>
      </p:sp>
      <p:sp>
        <p:nvSpPr>
          <p:cNvPr id="8" name="Shape 6"/>
          <p:cNvSpPr/>
          <p:nvPr/>
        </p:nvSpPr>
        <p:spPr>
          <a:xfrm>
            <a:off x="3291840" y="868680"/>
            <a:ext cx="2468880" cy="914400"/>
          </a:xfrm>
          <a:prstGeom prst="roundRect">
            <a:avLst>
              <a:gd name="adj" fmla="val 10000"/>
            </a:avLst>
          </a:prstGeom>
          <a:solidFill>
            <a:schemeClr val="accent1">
              <a:lumMod val="75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9" name="Text 7"/>
          <p:cNvSpPr/>
          <p:nvPr/>
        </p:nvSpPr>
        <p:spPr>
          <a:xfrm>
            <a:off x="3291840" y="896112"/>
            <a:ext cx="246888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82</a:t>
            </a:r>
            <a:endParaRPr lang="en-US" sz="2400" dirty="0"/>
          </a:p>
        </p:txBody>
      </p:sp>
      <p:sp>
        <p:nvSpPr>
          <p:cNvPr id="10" name="Text 8"/>
          <p:cNvSpPr/>
          <p:nvPr/>
        </p:nvSpPr>
        <p:spPr>
          <a:xfrm>
            <a:off x="3291840" y="1371600"/>
            <a:ext cx="246888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Stocks Manipulated</a:t>
            </a:r>
            <a:endParaRPr lang="en-US" sz="950" dirty="0"/>
          </a:p>
        </p:txBody>
      </p:sp>
      <p:sp>
        <p:nvSpPr>
          <p:cNvPr id="11" name="Shape 9"/>
          <p:cNvSpPr/>
          <p:nvPr/>
        </p:nvSpPr>
        <p:spPr>
          <a:xfrm>
            <a:off x="6126480" y="868680"/>
            <a:ext cx="2468880" cy="914400"/>
          </a:xfrm>
          <a:prstGeom prst="roundRect">
            <a:avLst>
              <a:gd name="adj" fmla="val 10000"/>
            </a:avLst>
          </a:prstGeom>
          <a:solidFill>
            <a:schemeClr val="accent1">
              <a:lumMod val="60000"/>
              <a:lumOff val="40000"/>
            </a:schemeClr>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12" name="Text 10"/>
          <p:cNvSpPr/>
          <p:nvPr/>
        </p:nvSpPr>
        <p:spPr>
          <a:xfrm>
            <a:off x="6126480" y="896112"/>
            <a:ext cx="246888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₹20.25 Cr</a:t>
            </a:r>
            <a:endParaRPr lang="en-US" sz="2400" dirty="0"/>
          </a:p>
        </p:txBody>
      </p:sp>
      <p:sp>
        <p:nvSpPr>
          <p:cNvPr id="13" name="Text 11"/>
          <p:cNvSpPr/>
          <p:nvPr/>
        </p:nvSpPr>
        <p:spPr>
          <a:xfrm>
            <a:off x="6126480" y="1371600"/>
            <a:ext cx="2468880" cy="347472"/>
          </a:xfrm>
          <a:prstGeom prst="rect">
            <a:avLst/>
          </a:prstGeom>
          <a:noFill/>
          <a:ln/>
        </p:spPr>
        <p:txBody>
          <a:bodyPr wrap="square" lIns="0" tIns="0" rIns="0" bIns="0"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Illegal Gains</a:t>
            </a:r>
            <a:endParaRPr lang="en-US" sz="950" dirty="0"/>
          </a:p>
        </p:txBody>
      </p:sp>
      <p:sp>
        <p:nvSpPr>
          <p:cNvPr id="14" name="Shape 12"/>
          <p:cNvSpPr/>
          <p:nvPr/>
        </p:nvSpPr>
        <p:spPr>
          <a:xfrm>
            <a:off x="274320" y="1901952"/>
            <a:ext cx="4160520" cy="2514600"/>
          </a:xfrm>
          <a:prstGeom prst="roundRect">
            <a:avLst>
              <a:gd name="adj" fmla="val 3636"/>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15" name="Text 13"/>
          <p:cNvSpPr/>
          <p:nvPr/>
        </p:nvSpPr>
        <p:spPr>
          <a:xfrm>
            <a:off x="411480" y="1947672"/>
            <a:ext cx="3931920" cy="274320"/>
          </a:xfrm>
          <a:prstGeom prst="rect">
            <a:avLst/>
          </a:prstGeom>
          <a:noFill/>
          <a:ln/>
        </p:spPr>
        <p:txBody>
          <a:bodyPr wrap="square" lIns="0" tIns="0" rIns="0" bIns="0" rtlCol="0" anchor="ctr"/>
          <a:lstStyle/>
          <a:p>
            <a:pPr marL="0" indent="0">
              <a:buNone/>
            </a:pPr>
            <a:r>
              <a:rPr lang="en-US" sz="1500" b="1" dirty="0">
                <a:solidFill>
                  <a:srgbClr val="1A3F7A"/>
                </a:solidFill>
                <a:latin typeface="Calibri" pitchFamily="34" charset="0"/>
                <a:ea typeface="Calibri" pitchFamily="34" charset="-122"/>
                <a:cs typeface="Calibri" pitchFamily="34" charset="-120"/>
              </a:rPr>
              <a:t>Overview</a:t>
            </a:r>
            <a:endParaRPr lang="en-US" sz="1500" dirty="0"/>
          </a:p>
        </p:txBody>
      </p:sp>
      <p:sp>
        <p:nvSpPr>
          <p:cNvPr id="16" name="Text 14"/>
          <p:cNvSpPr/>
          <p:nvPr/>
        </p:nvSpPr>
        <p:spPr>
          <a:xfrm>
            <a:off x="411480" y="2240280"/>
            <a:ext cx="3931920" cy="64008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SEBI investigated a family of seven individuals accused of manipulating multiple SME and small-cap stocks through social media recommendations.</a:t>
            </a:r>
            <a:endParaRPr lang="en-US" sz="1200" dirty="0"/>
          </a:p>
        </p:txBody>
      </p:sp>
      <p:sp>
        <p:nvSpPr>
          <p:cNvPr id="17" name="Text 15"/>
          <p:cNvSpPr/>
          <p:nvPr/>
        </p:nvSpPr>
        <p:spPr>
          <a:xfrm>
            <a:off x="411480" y="2907792"/>
            <a:ext cx="3931920" cy="274320"/>
          </a:xfrm>
          <a:prstGeom prst="rect">
            <a:avLst/>
          </a:prstGeom>
          <a:noFill/>
          <a:ln/>
        </p:spPr>
        <p:txBody>
          <a:bodyPr wrap="square" lIns="0" tIns="0" rIns="0" bIns="0" rtlCol="0" anchor="ctr"/>
          <a:lstStyle/>
          <a:p>
            <a:pPr marL="0" indent="0">
              <a:buNone/>
            </a:pPr>
            <a:r>
              <a:rPr lang="en-US" sz="1500" b="1" dirty="0">
                <a:solidFill>
                  <a:srgbClr val="1A3F7A"/>
                </a:solidFill>
                <a:latin typeface="Calibri" pitchFamily="34" charset="0"/>
                <a:ea typeface="Calibri" pitchFamily="34" charset="-122"/>
                <a:cs typeface="Calibri" pitchFamily="34" charset="-120"/>
              </a:rPr>
              <a:t>SEBI Findings</a:t>
            </a:r>
            <a:endParaRPr lang="en-US" sz="1500" dirty="0"/>
          </a:p>
        </p:txBody>
      </p:sp>
      <p:sp>
        <p:nvSpPr>
          <p:cNvPr id="18" name="Text 16"/>
          <p:cNvSpPr/>
          <p:nvPr/>
        </p:nvSpPr>
        <p:spPr>
          <a:xfrm>
            <a:off x="411480" y="3200400"/>
            <a:ext cx="3931920" cy="64008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SEBI identified a strong relationship between recommendation dates and subsequent increases in trading activity, indicating coordinated market manipulation.</a:t>
            </a:r>
            <a:endParaRPr lang="en-US" sz="1200" dirty="0"/>
          </a:p>
        </p:txBody>
      </p:sp>
      <p:sp>
        <p:nvSpPr>
          <p:cNvPr id="19" name="Shape 17"/>
          <p:cNvSpPr/>
          <p:nvPr/>
        </p:nvSpPr>
        <p:spPr>
          <a:xfrm>
            <a:off x="4709160" y="1901952"/>
            <a:ext cx="4160520" cy="2514600"/>
          </a:xfrm>
          <a:prstGeom prst="roundRect">
            <a:avLst>
              <a:gd name="adj" fmla="val 3636"/>
            </a:avLst>
          </a:prstGeom>
          <a:solidFill>
            <a:srgbClr val="FFFFFF"/>
          </a:solidFill>
          <a:ln w="12700">
            <a:solidFill>
              <a:srgbClr val="E2E8F0"/>
            </a:solidFill>
            <a:prstDash val="solid"/>
          </a:ln>
          <a:effectLst>
            <a:outerShdw blurRad="63500" dist="25400" dir="2700000" algn="bl" rotWithShape="0">
              <a:srgbClr val="000000">
                <a:alpha val="8000"/>
              </a:srgbClr>
            </a:outerShdw>
          </a:effectLst>
        </p:spPr>
      </p:sp>
      <p:sp>
        <p:nvSpPr>
          <p:cNvPr id="20" name="Text 18"/>
          <p:cNvSpPr/>
          <p:nvPr/>
        </p:nvSpPr>
        <p:spPr>
          <a:xfrm>
            <a:off x="4846320" y="1947672"/>
            <a:ext cx="384048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Fraud Strategy</a:t>
            </a:r>
            <a:endParaRPr lang="en-US" sz="1100" dirty="0"/>
          </a:p>
        </p:txBody>
      </p:sp>
      <p:sp>
        <p:nvSpPr>
          <p:cNvPr id="21" name="Shape 19"/>
          <p:cNvSpPr/>
          <p:nvPr/>
        </p:nvSpPr>
        <p:spPr>
          <a:xfrm>
            <a:off x="4846320" y="2286000"/>
            <a:ext cx="3840480" cy="402336"/>
          </a:xfrm>
          <a:prstGeom prst="roundRect">
            <a:avLst>
              <a:gd name="adj" fmla="val 15909"/>
            </a:avLst>
          </a:prstGeom>
          <a:solidFill>
            <a:srgbClr val="F4F6FB"/>
          </a:solidFill>
          <a:ln w="12700">
            <a:solidFill>
              <a:srgbClr val="E2E8F0"/>
            </a:solidFill>
            <a:prstDash val="solid"/>
          </a:ln>
        </p:spPr>
      </p:sp>
      <p:sp>
        <p:nvSpPr>
          <p:cNvPr id="22" name="Text 20"/>
          <p:cNvSpPr/>
          <p:nvPr/>
        </p:nvSpPr>
        <p:spPr>
          <a:xfrm>
            <a:off x="4937760" y="2313432"/>
            <a:ext cx="3657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1. Accumulated illiquid shares quietly.</a:t>
            </a:r>
            <a:endParaRPr lang="en-US" sz="950" dirty="0"/>
          </a:p>
        </p:txBody>
      </p:sp>
      <p:sp>
        <p:nvSpPr>
          <p:cNvPr id="23" name="Shape 21"/>
          <p:cNvSpPr/>
          <p:nvPr/>
        </p:nvSpPr>
        <p:spPr>
          <a:xfrm>
            <a:off x="4846320" y="2788920"/>
            <a:ext cx="3840480" cy="402336"/>
          </a:xfrm>
          <a:prstGeom prst="roundRect">
            <a:avLst>
              <a:gd name="adj" fmla="val 15909"/>
            </a:avLst>
          </a:prstGeom>
          <a:solidFill>
            <a:srgbClr val="F4F6FB"/>
          </a:solidFill>
          <a:ln w="12700">
            <a:solidFill>
              <a:srgbClr val="E2E8F0"/>
            </a:solidFill>
            <a:prstDash val="solid"/>
          </a:ln>
        </p:spPr>
      </p:sp>
      <p:sp>
        <p:nvSpPr>
          <p:cNvPr id="24" name="Text 22"/>
          <p:cNvSpPr/>
          <p:nvPr/>
        </p:nvSpPr>
        <p:spPr>
          <a:xfrm>
            <a:off x="4937760" y="2816352"/>
            <a:ext cx="3657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2. Promoted stocks aggressively through social media.</a:t>
            </a:r>
            <a:endParaRPr lang="en-US" sz="950" dirty="0"/>
          </a:p>
        </p:txBody>
      </p:sp>
      <p:sp>
        <p:nvSpPr>
          <p:cNvPr id="25" name="Shape 23"/>
          <p:cNvSpPr/>
          <p:nvPr/>
        </p:nvSpPr>
        <p:spPr>
          <a:xfrm>
            <a:off x="4846320" y="3291840"/>
            <a:ext cx="3840480" cy="402336"/>
          </a:xfrm>
          <a:prstGeom prst="roundRect">
            <a:avLst>
              <a:gd name="adj" fmla="val 15909"/>
            </a:avLst>
          </a:prstGeom>
          <a:solidFill>
            <a:srgbClr val="F4F6FB"/>
          </a:solidFill>
          <a:ln w="12700">
            <a:solidFill>
              <a:srgbClr val="E2E8F0"/>
            </a:solidFill>
            <a:prstDash val="solid"/>
          </a:ln>
        </p:spPr>
      </p:sp>
      <p:sp>
        <p:nvSpPr>
          <p:cNvPr id="26" name="Text 24"/>
          <p:cNvSpPr/>
          <p:nvPr/>
        </p:nvSpPr>
        <p:spPr>
          <a:xfrm>
            <a:off x="4937760" y="3319272"/>
            <a:ext cx="3657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3. Encouraged retail participation via FOMO messaging.</a:t>
            </a:r>
            <a:endParaRPr lang="en-US" sz="950" dirty="0"/>
          </a:p>
        </p:txBody>
      </p:sp>
      <p:sp>
        <p:nvSpPr>
          <p:cNvPr id="27" name="Shape 25"/>
          <p:cNvSpPr/>
          <p:nvPr/>
        </p:nvSpPr>
        <p:spPr>
          <a:xfrm>
            <a:off x="4846320" y="3794760"/>
            <a:ext cx="3840480" cy="402336"/>
          </a:xfrm>
          <a:prstGeom prst="roundRect">
            <a:avLst>
              <a:gd name="adj" fmla="val 15909"/>
            </a:avLst>
          </a:prstGeom>
          <a:solidFill>
            <a:srgbClr val="F4F6FB"/>
          </a:solidFill>
          <a:ln w="12700">
            <a:solidFill>
              <a:srgbClr val="E2E8F0"/>
            </a:solidFill>
            <a:prstDash val="solid"/>
          </a:ln>
        </p:spPr>
      </p:sp>
      <p:sp>
        <p:nvSpPr>
          <p:cNvPr id="28" name="Text 26"/>
          <p:cNvSpPr/>
          <p:nvPr/>
        </p:nvSpPr>
        <p:spPr>
          <a:xfrm>
            <a:off x="4937760" y="3822192"/>
            <a:ext cx="3657600" cy="34747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4. Exited positions after price inflation.</a:t>
            </a:r>
            <a:endParaRPr lang="en-US" sz="950" dirty="0"/>
          </a:p>
        </p:txBody>
      </p:sp>
      <p:sp>
        <p:nvSpPr>
          <p:cNvPr id="30" name="Text 28"/>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Case Study 2 – Rajneesh Kumar </a:t>
            </a:r>
            <a:r>
              <a:rPr lang="en-US" sz="1900" b="1" dirty="0" smtClean="0">
                <a:solidFill>
                  <a:srgbClr val="FFFFFF"/>
                </a:solidFill>
                <a:latin typeface="Calibri" pitchFamily="34" charset="0"/>
                <a:ea typeface="Calibri" pitchFamily="34" charset="-122"/>
                <a:cs typeface="Calibri" pitchFamily="34" charset="-120"/>
              </a:rPr>
              <a:t>vs SEBI</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8595360" cy="640080"/>
          </a:xfrm>
          <a:prstGeom prst="roundRect">
            <a:avLst>
              <a:gd name="adj" fmla="val 11429"/>
            </a:avLst>
          </a:prstGeom>
          <a:solidFill>
            <a:schemeClr val="accent1">
              <a:lumMod val="20000"/>
              <a:lumOff val="80000"/>
            </a:schemeClr>
          </a:solidFill>
          <a:ln w="12700">
            <a:solidFill>
              <a:srgbClr val="FF0000"/>
            </a:solidFill>
            <a:prstDash val="solid"/>
          </a:ln>
        </p:spPr>
      </p:sp>
      <p:sp>
        <p:nvSpPr>
          <p:cNvPr id="6" name="Text 4"/>
          <p:cNvSpPr/>
          <p:nvPr/>
        </p:nvSpPr>
        <p:spPr>
          <a:xfrm>
            <a:off x="457200" y="896112"/>
            <a:ext cx="8229600" cy="548640"/>
          </a:xfrm>
          <a:prstGeom prst="rect">
            <a:avLst/>
          </a:prstGeom>
          <a:noFill/>
          <a:ln/>
        </p:spPr>
        <p:txBody>
          <a:bodyPr wrap="square" lIns="0" tIns="0" rIns="0" bIns="0" rtlCol="0" anchor="ctr"/>
          <a:lstStyle/>
          <a:p>
            <a:pPr marL="0" indent="0" algn="ctr">
              <a:buNone/>
            </a:pPr>
            <a:r>
              <a:rPr lang="en-US" sz="1100" b="1" dirty="0">
                <a:solidFill>
                  <a:srgbClr val="FF0000"/>
                </a:solidFill>
                <a:latin typeface="Calibri" pitchFamily="34" charset="0"/>
                <a:ea typeface="Calibri" pitchFamily="34" charset="-122"/>
                <a:cs typeface="Calibri" pitchFamily="34" charset="-120"/>
              </a:rPr>
              <a:t>Outcome: ₹3.89 Crore in unlawful gains impounded — Key precedent in social media-based market manipulation investigations.</a:t>
            </a:r>
            <a:endParaRPr lang="en-US" sz="1100" dirty="0">
              <a:solidFill>
                <a:srgbClr val="FF0000"/>
              </a:solidFill>
            </a:endParaRPr>
          </a:p>
        </p:txBody>
      </p:sp>
      <p:sp>
        <p:nvSpPr>
          <p:cNvPr id="7" name="Shape 5"/>
          <p:cNvSpPr/>
          <p:nvPr/>
        </p:nvSpPr>
        <p:spPr>
          <a:xfrm>
            <a:off x="274320" y="1627632"/>
            <a:ext cx="4160520" cy="2788920"/>
          </a:xfrm>
          <a:prstGeom prst="roundRect">
            <a:avLst>
              <a:gd name="adj" fmla="val 3279"/>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8" name="Text 6"/>
          <p:cNvSpPr/>
          <p:nvPr/>
        </p:nvSpPr>
        <p:spPr>
          <a:xfrm>
            <a:off x="411480" y="1673352"/>
            <a:ext cx="393192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Overview</a:t>
            </a:r>
            <a:endParaRPr lang="en-US" sz="1100" dirty="0"/>
          </a:p>
        </p:txBody>
      </p:sp>
      <p:sp>
        <p:nvSpPr>
          <p:cNvPr id="9" name="Text 7"/>
          <p:cNvSpPr/>
          <p:nvPr/>
        </p:nvSpPr>
        <p:spPr>
          <a:xfrm>
            <a:off x="411480" y="1975104"/>
            <a:ext cx="3931920" cy="5029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This case demonstrates how Telegram channels can be used as a tool for coordinated stock manipulation targeting retail investors.</a:t>
            </a:r>
            <a:endParaRPr lang="en-US" sz="950" dirty="0"/>
          </a:p>
        </p:txBody>
      </p:sp>
      <p:sp>
        <p:nvSpPr>
          <p:cNvPr id="10" name="Text 8"/>
          <p:cNvSpPr/>
          <p:nvPr/>
        </p:nvSpPr>
        <p:spPr>
          <a:xfrm>
            <a:off x="411480" y="2523744"/>
            <a:ext cx="3931920" cy="256032"/>
          </a:xfrm>
          <a:prstGeom prst="rect">
            <a:avLst/>
          </a:prstGeom>
          <a:noFill/>
          <a:ln/>
        </p:spPr>
        <p:txBody>
          <a:bodyPr wrap="square" lIns="0" tIns="0" rIns="0" bIns="0" rtlCol="0" anchor="ctr"/>
          <a:lstStyle/>
          <a:p>
            <a:pPr marL="0" indent="0">
              <a:buNone/>
            </a:pPr>
            <a:r>
              <a:rPr lang="en-US" sz="1000" b="1" dirty="0">
                <a:solidFill>
                  <a:srgbClr val="1A3F7A"/>
                </a:solidFill>
                <a:latin typeface="Calibri" pitchFamily="34" charset="0"/>
                <a:ea typeface="Calibri" pitchFamily="34" charset="-122"/>
                <a:cs typeface="Calibri" pitchFamily="34" charset="-120"/>
              </a:rPr>
              <a:t>Target Company</a:t>
            </a:r>
            <a:endParaRPr lang="en-US" sz="1000" dirty="0"/>
          </a:p>
        </p:txBody>
      </p:sp>
      <p:sp>
        <p:nvSpPr>
          <p:cNvPr id="11" name="Shape 9"/>
          <p:cNvSpPr/>
          <p:nvPr/>
        </p:nvSpPr>
        <p:spPr>
          <a:xfrm>
            <a:off x="411480" y="2807208"/>
            <a:ext cx="3886200" cy="347472"/>
          </a:xfrm>
          <a:prstGeom prst="roundRect">
            <a:avLst>
              <a:gd name="adj" fmla="val 18421"/>
            </a:avLst>
          </a:prstGeom>
          <a:solidFill>
            <a:srgbClr val="3A7BD5"/>
          </a:solidFill>
          <a:ln w="12700">
            <a:solidFill>
              <a:srgbClr val="3A7BD5"/>
            </a:solidFill>
            <a:prstDash val="solid"/>
          </a:ln>
        </p:spPr>
      </p:sp>
      <p:sp>
        <p:nvSpPr>
          <p:cNvPr id="12" name="Text 10"/>
          <p:cNvSpPr/>
          <p:nvPr/>
        </p:nvSpPr>
        <p:spPr>
          <a:xfrm>
            <a:off x="411480" y="2807208"/>
            <a:ext cx="3886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Superior Finlease Limited</a:t>
            </a:r>
            <a:endParaRPr lang="en-US" sz="1100" dirty="0"/>
          </a:p>
        </p:txBody>
      </p:sp>
      <p:sp>
        <p:nvSpPr>
          <p:cNvPr id="13" name="Text 11"/>
          <p:cNvSpPr/>
          <p:nvPr/>
        </p:nvSpPr>
        <p:spPr>
          <a:xfrm>
            <a:off x="411480" y="3246120"/>
            <a:ext cx="3931920" cy="256032"/>
          </a:xfrm>
          <a:prstGeom prst="rect">
            <a:avLst/>
          </a:prstGeom>
          <a:noFill/>
          <a:ln/>
        </p:spPr>
        <p:txBody>
          <a:bodyPr wrap="square" lIns="0" tIns="0" rIns="0" bIns="0" rtlCol="0" anchor="ctr"/>
          <a:lstStyle/>
          <a:p>
            <a:pPr marL="0" indent="0">
              <a:buNone/>
            </a:pPr>
            <a:r>
              <a:rPr lang="en-US" sz="1000" b="1" dirty="0">
                <a:solidFill>
                  <a:srgbClr val="1A3F7A"/>
                </a:solidFill>
                <a:latin typeface="Calibri" pitchFamily="34" charset="0"/>
                <a:ea typeface="Calibri" pitchFamily="34" charset="-122"/>
                <a:cs typeface="Calibri" pitchFamily="34" charset="-120"/>
              </a:rPr>
              <a:t>Enforcement Action – SEBI Analyzed:</a:t>
            </a:r>
            <a:endParaRPr lang="en-US" sz="1000" dirty="0"/>
          </a:p>
        </p:txBody>
      </p:sp>
      <p:sp>
        <p:nvSpPr>
          <p:cNvPr id="15" name="Text 13"/>
          <p:cNvSpPr/>
          <p:nvPr/>
        </p:nvSpPr>
        <p:spPr>
          <a:xfrm>
            <a:off x="658368" y="3511296"/>
            <a:ext cx="3566160" cy="22860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Digital communication records</a:t>
            </a:r>
            <a:endParaRPr lang="en-US" sz="950" dirty="0"/>
          </a:p>
        </p:txBody>
      </p:sp>
      <p:sp>
        <p:nvSpPr>
          <p:cNvPr id="17" name="Text 15"/>
          <p:cNvSpPr/>
          <p:nvPr/>
        </p:nvSpPr>
        <p:spPr>
          <a:xfrm>
            <a:off x="658368" y="3785616"/>
            <a:ext cx="3566160" cy="22860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Banking transactions</a:t>
            </a:r>
            <a:endParaRPr lang="en-US" sz="950" dirty="0"/>
          </a:p>
        </p:txBody>
      </p:sp>
      <p:sp>
        <p:nvSpPr>
          <p:cNvPr id="19" name="Text 17"/>
          <p:cNvSpPr/>
          <p:nvPr/>
        </p:nvSpPr>
        <p:spPr>
          <a:xfrm>
            <a:off x="658368" y="4059936"/>
            <a:ext cx="3566160" cy="22860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Mobile phone records</a:t>
            </a:r>
            <a:endParaRPr lang="en-US" sz="950" dirty="0"/>
          </a:p>
        </p:txBody>
      </p:sp>
      <p:sp>
        <p:nvSpPr>
          <p:cNvPr id="20" name="Shape 18"/>
          <p:cNvSpPr/>
          <p:nvPr/>
        </p:nvSpPr>
        <p:spPr>
          <a:xfrm>
            <a:off x="4709160" y="1627632"/>
            <a:ext cx="4160520" cy="2788920"/>
          </a:xfrm>
          <a:prstGeom prst="roundRect">
            <a:avLst>
              <a:gd name="adj" fmla="val 3279"/>
            </a:avLst>
          </a:prstGeom>
          <a:solidFill>
            <a:srgbClr val="FFFFFF"/>
          </a:solidFill>
          <a:ln w="12700">
            <a:solidFill>
              <a:srgbClr val="E2E8F0"/>
            </a:solidFill>
            <a:prstDash val="solid"/>
          </a:ln>
          <a:effectLst>
            <a:outerShdw blurRad="63500" dist="25400" dir="2700000" algn="bl" rotWithShape="0">
              <a:srgbClr val="000000">
                <a:alpha val="8000"/>
              </a:srgbClr>
            </a:outerShdw>
          </a:effectLst>
        </p:spPr>
      </p:sp>
      <p:sp>
        <p:nvSpPr>
          <p:cNvPr id="21" name="Text 19"/>
          <p:cNvSpPr/>
          <p:nvPr/>
        </p:nvSpPr>
        <p:spPr>
          <a:xfrm>
            <a:off x="4846320" y="1673352"/>
            <a:ext cx="384048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Manipulation Process</a:t>
            </a:r>
            <a:endParaRPr lang="en-US" sz="1100" dirty="0"/>
          </a:p>
        </p:txBody>
      </p:sp>
      <p:sp>
        <p:nvSpPr>
          <p:cNvPr id="22" name="Shape 20"/>
          <p:cNvSpPr/>
          <p:nvPr/>
        </p:nvSpPr>
        <p:spPr>
          <a:xfrm>
            <a:off x="4846320" y="2029968"/>
            <a:ext cx="3840480" cy="475488"/>
          </a:xfrm>
          <a:prstGeom prst="roundRect">
            <a:avLst>
              <a:gd name="adj" fmla="val 13462"/>
            </a:avLst>
          </a:prstGeom>
          <a:solidFill>
            <a:srgbClr val="F4F6FB"/>
          </a:solidFill>
          <a:ln w="12700">
            <a:solidFill>
              <a:srgbClr val="E2E8F0"/>
            </a:solidFill>
            <a:prstDash val="solid"/>
          </a:ln>
        </p:spPr>
      </p:sp>
      <p:sp>
        <p:nvSpPr>
          <p:cNvPr id="23" name="Text 21"/>
          <p:cNvSpPr/>
          <p:nvPr/>
        </p:nvSpPr>
        <p:spPr>
          <a:xfrm>
            <a:off x="4956048" y="2057400"/>
            <a:ext cx="3657600" cy="201168"/>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Stock Tips Distributed</a:t>
            </a:r>
            <a:endParaRPr lang="en-US" sz="950" dirty="0"/>
          </a:p>
        </p:txBody>
      </p:sp>
      <p:sp>
        <p:nvSpPr>
          <p:cNvPr id="24" name="Text 22"/>
          <p:cNvSpPr/>
          <p:nvPr/>
        </p:nvSpPr>
        <p:spPr>
          <a:xfrm>
            <a:off x="4956048" y="2258568"/>
            <a:ext cx="3657600"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Telegram channels used to spread stock buy recommendations.</a:t>
            </a:r>
            <a:endParaRPr lang="en-US" sz="850" dirty="0"/>
          </a:p>
        </p:txBody>
      </p:sp>
      <p:sp>
        <p:nvSpPr>
          <p:cNvPr id="25" name="Shape 23"/>
          <p:cNvSpPr/>
          <p:nvPr/>
        </p:nvSpPr>
        <p:spPr>
          <a:xfrm>
            <a:off x="4846320" y="2587752"/>
            <a:ext cx="3840480" cy="475488"/>
          </a:xfrm>
          <a:prstGeom prst="roundRect">
            <a:avLst>
              <a:gd name="adj" fmla="val 13462"/>
            </a:avLst>
          </a:prstGeom>
          <a:solidFill>
            <a:srgbClr val="F4F6FB"/>
          </a:solidFill>
          <a:ln w="12700">
            <a:solidFill>
              <a:srgbClr val="E2E8F0"/>
            </a:solidFill>
            <a:prstDash val="solid"/>
          </a:ln>
        </p:spPr>
      </p:sp>
      <p:sp>
        <p:nvSpPr>
          <p:cNvPr id="26" name="Text 24"/>
          <p:cNvSpPr/>
          <p:nvPr/>
        </p:nvSpPr>
        <p:spPr>
          <a:xfrm>
            <a:off x="4956048" y="2615184"/>
            <a:ext cx="3657600" cy="201168"/>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Investors Encouraged to Buy</a:t>
            </a:r>
            <a:endParaRPr lang="en-US" sz="950" dirty="0"/>
          </a:p>
        </p:txBody>
      </p:sp>
      <p:sp>
        <p:nvSpPr>
          <p:cNvPr id="27" name="Text 25"/>
          <p:cNvSpPr/>
          <p:nvPr/>
        </p:nvSpPr>
        <p:spPr>
          <a:xfrm>
            <a:off x="4956048" y="2816352"/>
            <a:ext cx="3657600"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Subscribers urged to purchase shares immediately.</a:t>
            </a:r>
            <a:endParaRPr lang="en-US" sz="850" dirty="0"/>
          </a:p>
        </p:txBody>
      </p:sp>
      <p:sp>
        <p:nvSpPr>
          <p:cNvPr id="28" name="Shape 26"/>
          <p:cNvSpPr/>
          <p:nvPr/>
        </p:nvSpPr>
        <p:spPr>
          <a:xfrm>
            <a:off x="4846320" y="3145536"/>
            <a:ext cx="3840480" cy="475488"/>
          </a:xfrm>
          <a:prstGeom prst="roundRect">
            <a:avLst>
              <a:gd name="adj" fmla="val 13462"/>
            </a:avLst>
          </a:prstGeom>
          <a:solidFill>
            <a:srgbClr val="F4F6FB"/>
          </a:solidFill>
          <a:ln w="12700">
            <a:solidFill>
              <a:srgbClr val="E2E8F0"/>
            </a:solidFill>
            <a:prstDash val="solid"/>
          </a:ln>
        </p:spPr>
      </p:sp>
      <p:sp>
        <p:nvSpPr>
          <p:cNvPr id="29" name="Text 27"/>
          <p:cNvSpPr/>
          <p:nvPr/>
        </p:nvSpPr>
        <p:spPr>
          <a:xfrm>
            <a:off x="4956048" y="3172968"/>
            <a:ext cx="3657600" cy="201168"/>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Artificial Demand Generated</a:t>
            </a:r>
            <a:endParaRPr lang="en-US" sz="950" dirty="0"/>
          </a:p>
        </p:txBody>
      </p:sp>
      <p:sp>
        <p:nvSpPr>
          <p:cNvPr id="30" name="Text 28"/>
          <p:cNvSpPr/>
          <p:nvPr/>
        </p:nvSpPr>
        <p:spPr>
          <a:xfrm>
            <a:off x="4956048" y="3374136"/>
            <a:ext cx="3657600"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Coordinated buying activity creates false momentum.</a:t>
            </a:r>
            <a:endParaRPr lang="en-US" sz="850" dirty="0"/>
          </a:p>
        </p:txBody>
      </p:sp>
      <p:sp>
        <p:nvSpPr>
          <p:cNvPr id="31" name="Shape 29"/>
          <p:cNvSpPr/>
          <p:nvPr/>
        </p:nvSpPr>
        <p:spPr>
          <a:xfrm>
            <a:off x="4846320" y="3703320"/>
            <a:ext cx="3840480" cy="475488"/>
          </a:xfrm>
          <a:prstGeom prst="roundRect">
            <a:avLst>
              <a:gd name="adj" fmla="val 13462"/>
            </a:avLst>
          </a:prstGeom>
          <a:solidFill>
            <a:srgbClr val="F4F6FB"/>
          </a:solidFill>
          <a:ln w="12700">
            <a:solidFill>
              <a:srgbClr val="E2E8F0"/>
            </a:solidFill>
            <a:prstDash val="solid"/>
          </a:ln>
        </p:spPr>
      </p:sp>
      <p:sp>
        <p:nvSpPr>
          <p:cNvPr id="32" name="Text 30"/>
          <p:cNvSpPr/>
          <p:nvPr/>
        </p:nvSpPr>
        <p:spPr>
          <a:xfrm>
            <a:off x="4956048" y="3730752"/>
            <a:ext cx="3657600" cy="201168"/>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Prices Influenced</a:t>
            </a:r>
            <a:endParaRPr lang="en-US" sz="950" dirty="0"/>
          </a:p>
        </p:txBody>
      </p:sp>
      <p:sp>
        <p:nvSpPr>
          <p:cNvPr id="33" name="Text 31"/>
          <p:cNvSpPr/>
          <p:nvPr/>
        </p:nvSpPr>
        <p:spPr>
          <a:xfrm>
            <a:off x="4956048" y="3931920"/>
            <a:ext cx="3657600"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Coordinated activity drives price above fair value.</a:t>
            </a:r>
            <a:endParaRPr lang="en-US" sz="850" dirty="0"/>
          </a:p>
        </p:txBody>
      </p:sp>
      <p:sp>
        <p:nvSpPr>
          <p:cNvPr id="35" name="Text 33"/>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329184"/>
            <a:ext cx="8412480" cy="457200"/>
          </a:xfrm>
          <a:prstGeom prst="rect">
            <a:avLst/>
          </a:prstGeom>
          <a:noFill/>
          <a:ln/>
        </p:spPr>
        <p:txBody>
          <a:bodyPr wrap="square" lIns="0" tIns="0" rIns="0" bIns="0" rtlCol="0" anchor="ctr"/>
          <a:lstStyle/>
          <a:p>
            <a:r>
              <a:rPr lang="en-US" sz="1900" b="1" dirty="0">
                <a:solidFill>
                  <a:srgbClr val="FFFFFF"/>
                </a:solidFill>
                <a:latin typeface="Calibri" pitchFamily="34" charset="0"/>
                <a:ea typeface="Calibri" pitchFamily="34" charset="-122"/>
                <a:cs typeface="Calibri" pitchFamily="34" charset="-120"/>
              </a:rPr>
              <a:t>Research </a:t>
            </a:r>
            <a:r>
              <a:rPr lang="en-US" sz="1900" b="1" dirty="0" smtClean="0">
                <a:solidFill>
                  <a:srgbClr val="FFFFFF"/>
                </a:solidFill>
                <a:latin typeface="Calibri" pitchFamily="34" charset="0"/>
                <a:ea typeface="Calibri" pitchFamily="34" charset="-122"/>
                <a:cs typeface="Calibri" pitchFamily="34" charset="-120"/>
              </a:rPr>
              <a:t>Methodology - </a:t>
            </a:r>
            <a:r>
              <a:rPr lang="en-US" sz="2000" dirty="0">
                <a:solidFill>
                  <a:srgbClr val="AECBF0"/>
                </a:solidFill>
                <a:latin typeface="Calibri" pitchFamily="34" charset="0"/>
                <a:ea typeface="Calibri" pitchFamily="34" charset="-122"/>
                <a:cs typeface="Calibri" pitchFamily="34" charset="-120"/>
              </a:rPr>
              <a:t>Descriptive &amp; Analytical Approach Based on Secondary Data</a:t>
            </a:r>
            <a:endParaRPr lang="en-US" sz="2000" dirty="0"/>
          </a:p>
          <a:p>
            <a:pPr marL="0" indent="0">
              <a:buNone/>
            </a:pP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2651760" cy="1417320"/>
          </a:xfrm>
          <a:prstGeom prst="roundRect">
            <a:avLst>
              <a:gd name="adj" fmla="val 645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6" name="Text 4"/>
          <p:cNvSpPr/>
          <p:nvPr/>
        </p:nvSpPr>
        <p:spPr>
          <a:xfrm>
            <a:off x="411480" y="914400"/>
            <a:ext cx="2468880" cy="274320"/>
          </a:xfrm>
          <a:prstGeom prst="rect">
            <a:avLst/>
          </a:prstGeom>
          <a:noFill/>
          <a:ln/>
        </p:spPr>
        <p:txBody>
          <a:bodyPr wrap="square" lIns="0" tIns="0" rIns="0" bIns="0" rtlCol="0" anchor="ctr"/>
          <a:lstStyle/>
          <a:p>
            <a:pPr marL="0" indent="0">
              <a:buNone/>
            </a:pPr>
            <a:r>
              <a:rPr lang="en-US" sz="1300" b="1" dirty="0">
                <a:solidFill>
                  <a:srgbClr val="1A3F7A"/>
                </a:solidFill>
                <a:latin typeface="Calibri" pitchFamily="34" charset="0"/>
                <a:ea typeface="Calibri" pitchFamily="34" charset="-122"/>
                <a:cs typeface="Calibri" pitchFamily="34" charset="-120"/>
              </a:rPr>
              <a:t>Research Design</a:t>
            </a:r>
            <a:endParaRPr lang="en-US" sz="1300" dirty="0"/>
          </a:p>
        </p:txBody>
      </p:sp>
      <p:sp>
        <p:nvSpPr>
          <p:cNvPr id="7" name="Text 5"/>
          <p:cNvSpPr/>
          <p:nvPr/>
        </p:nvSpPr>
        <p:spPr>
          <a:xfrm>
            <a:off x="411480" y="1234440"/>
            <a:ext cx="2468880" cy="822960"/>
          </a:xfrm>
          <a:prstGeom prst="rect">
            <a:avLst/>
          </a:prstGeom>
          <a:noFill/>
          <a:ln/>
        </p:spPr>
        <p:txBody>
          <a:bodyPr wrap="square" lIns="0" tIns="0" rIns="0" bIns="0" rtlCol="0" anchor="ctr"/>
          <a:lstStyle/>
          <a:p>
            <a:pPr marL="0" indent="0">
              <a:buNone/>
            </a:pPr>
            <a:r>
              <a:rPr lang="en-US" sz="1100" dirty="0">
                <a:solidFill>
                  <a:srgbClr val="1A1A2E"/>
                </a:solidFill>
                <a:latin typeface="Calibri" pitchFamily="34" charset="0"/>
                <a:ea typeface="Calibri" pitchFamily="34" charset="-122"/>
                <a:cs typeface="Calibri" pitchFamily="34" charset="-120"/>
              </a:rPr>
              <a:t>Descriptive and analytical research approach based on secondary data sources.</a:t>
            </a:r>
            <a:endParaRPr lang="en-US" sz="1100" dirty="0"/>
          </a:p>
        </p:txBody>
      </p:sp>
      <p:sp>
        <p:nvSpPr>
          <p:cNvPr id="8" name="Shape 6"/>
          <p:cNvSpPr/>
          <p:nvPr/>
        </p:nvSpPr>
        <p:spPr>
          <a:xfrm>
            <a:off x="3154680" y="868680"/>
            <a:ext cx="2651760" cy="1417320"/>
          </a:xfrm>
          <a:prstGeom prst="roundRect">
            <a:avLst>
              <a:gd name="adj" fmla="val 645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9" name="Text 7"/>
          <p:cNvSpPr/>
          <p:nvPr/>
        </p:nvSpPr>
        <p:spPr>
          <a:xfrm>
            <a:off x="3291840" y="914400"/>
            <a:ext cx="2468880" cy="274320"/>
          </a:xfrm>
          <a:prstGeom prst="rect">
            <a:avLst/>
          </a:prstGeom>
          <a:noFill/>
          <a:ln/>
        </p:spPr>
        <p:txBody>
          <a:bodyPr wrap="square" lIns="0" tIns="0" rIns="0" bIns="0" rtlCol="0" anchor="ctr"/>
          <a:lstStyle/>
          <a:p>
            <a:r>
              <a:rPr lang="en-US" sz="1300" b="1" dirty="0">
                <a:solidFill>
                  <a:srgbClr val="1A3F7A"/>
                </a:solidFill>
                <a:latin typeface="Calibri" pitchFamily="34" charset="0"/>
                <a:ea typeface="Calibri" pitchFamily="34" charset="-122"/>
                <a:cs typeface="Calibri" pitchFamily="34" charset="-120"/>
              </a:rPr>
              <a:t>Data Sources</a:t>
            </a:r>
          </a:p>
        </p:txBody>
      </p:sp>
      <p:sp>
        <p:nvSpPr>
          <p:cNvPr id="10" name="Text 8"/>
          <p:cNvSpPr/>
          <p:nvPr/>
        </p:nvSpPr>
        <p:spPr>
          <a:xfrm>
            <a:off x="3291840" y="1234440"/>
            <a:ext cx="2468880" cy="914400"/>
          </a:xfrm>
          <a:prstGeom prst="rect">
            <a:avLst/>
          </a:prstGeom>
          <a:noFill/>
          <a:ln/>
        </p:spPr>
        <p:txBody>
          <a:bodyPr wrap="square" lIns="0" tIns="0" rIns="0" bIns="0" rtlCol="0" anchor="ctr"/>
          <a:lstStyle/>
          <a:p>
            <a:pPr marL="0" indent="0">
              <a:buNone/>
            </a:pPr>
            <a:r>
              <a:rPr lang="en-US" sz="1100" dirty="0">
                <a:solidFill>
                  <a:srgbClr val="1A1A2E"/>
                </a:solidFill>
                <a:ea typeface="Calibri" pitchFamily="34" charset="-122"/>
                <a:cs typeface="Calibri" pitchFamily="34" charset="-120"/>
              </a:rPr>
              <a:t>• SEBI Interim Orders</a:t>
            </a:r>
            <a:endParaRPr lang="en-US" sz="1100" dirty="0"/>
          </a:p>
          <a:p>
            <a:pPr marL="0" indent="0">
              <a:buNone/>
            </a:pPr>
            <a:r>
              <a:rPr lang="en-US" sz="1100" dirty="0">
                <a:solidFill>
                  <a:srgbClr val="1A1A2E"/>
                </a:solidFill>
                <a:ea typeface="Calibri" pitchFamily="34" charset="-122"/>
                <a:cs typeface="Calibri" pitchFamily="34" charset="-120"/>
              </a:rPr>
              <a:t>• Publicly Available Regulatory Documents</a:t>
            </a:r>
            <a:endParaRPr lang="en-US" sz="1100" dirty="0"/>
          </a:p>
          <a:p>
            <a:pPr marL="0" indent="0">
              <a:buNone/>
            </a:pPr>
            <a:r>
              <a:rPr lang="en-US" sz="1100" dirty="0">
                <a:solidFill>
                  <a:srgbClr val="1A1A2E"/>
                </a:solidFill>
                <a:ea typeface="Calibri" pitchFamily="34" charset="-122"/>
                <a:cs typeface="Calibri" pitchFamily="34" charset="-120"/>
              </a:rPr>
              <a:t>• Case Study Information</a:t>
            </a:r>
            <a:endParaRPr lang="en-US" sz="1100" dirty="0"/>
          </a:p>
          <a:p>
            <a:pPr marL="0" indent="0">
              <a:buNone/>
            </a:pPr>
            <a:r>
              <a:rPr lang="en-US" sz="1100" dirty="0">
                <a:solidFill>
                  <a:srgbClr val="1A1A2E"/>
                </a:solidFill>
                <a:ea typeface="Calibri" pitchFamily="34" charset="-122"/>
                <a:cs typeface="Calibri" pitchFamily="34" charset="-120"/>
              </a:rPr>
              <a:t>• Market Trading Data</a:t>
            </a:r>
            <a:endParaRPr lang="en-US" sz="1100" dirty="0"/>
          </a:p>
        </p:txBody>
      </p:sp>
      <p:sp>
        <p:nvSpPr>
          <p:cNvPr id="11" name="Shape 9"/>
          <p:cNvSpPr/>
          <p:nvPr/>
        </p:nvSpPr>
        <p:spPr>
          <a:xfrm>
            <a:off x="6035040" y="868680"/>
            <a:ext cx="2834640" cy="1417320"/>
          </a:xfrm>
          <a:prstGeom prst="roundRect">
            <a:avLst>
              <a:gd name="adj" fmla="val 645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12" name="Text 10"/>
          <p:cNvSpPr/>
          <p:nvPr/>
        </p:nvSpPr>
        <p:spPr>
          <a:xfrm>
            <a:off x="6172200" y="914400"/>
            <a:ext cx="2651760" cy="274320"/>
          </a:xfrm>
          <a:prstGeom prst="rect">
            <a:avLst/>
          </a:prstGeom>
          <a:noFill/>
          <a:ln/>
        </p:spPr>
        <p:txBody>
          <a:bodyPr wrap="square" lIns="0" tIns="0" rIns="0" bIns="0" rtlCol="0" anchor="ctr"/>
          <a:lstStyle/>
          <a:p>
            <a:pPr marL="0" indent="0">
              <a:buNone/>
            </a:pPr>
            <a:r>
              <a:rPr lang="en-US" sz="1300" b="1" dirty="0">
                <a:solidFill>
                  <a:srgbClr val="1A3F7A"/>
                </a:solidFill>
                <a:latin typeface="Calibri" pitchFamily="34" charset="0"/>
                <a:ea typeface="Calibri" pitchFamily="34" charset="-122"/>
                <a:cs typeface="Calibri" pitchFamily="34" charset="-120"/>
              </a:rPr>
              <a:t>Tools Used</a:t>
            </a:r>
            <a:endParaRPr lang="en-US" sz="1300" dirty="0"/>
          </a:p>
        </p:txBody>
      </p:sp>
      <p:sp>
        <p:nvSpPr>
          <p:cNvPr id="13" name="Text 11"/>
          <p:cNvSpPr/>
          <p:nvPr/>
        </p:nvSpPr>
        <p:spPr>
          <a:xfrm>
            <a:off x="6172200" y="1234440"/>
            <a:ext cx="2651760" cy="914400"/>
          </a:xfrm>
          <a:prstGeom prst="rect">
            <a:avLst/>
          </a:prstGeom>
          <a:noFill/>
          <a:ln/>
        </p:spPr>
        <p:txBody>
          <a:bodyPr wrap="square" lIns="0" tIns="0" rIns="0" bIns="0" rtlCol="0" anchor="ctr"/>
          <a:lstStyle/>
          <a:p>
            <a:pPr marL="0" indent="0">
              <a:buNone/>
            </a:pPr>
            <a:r>
              <a:rPr lang="en-US" sz="1100" dirty="0">
                <a:solidFill>
                  <a:srgbClr val="1A1A2E"/>
                </a:solidFill>
                <a:ea typeface="Calibri" pitchFamily="34" charset="-122"/>
                <a:cs typeface="Calibri" pitchFamily="34" charset="-120"/>
              </a:rPr>
              <a:t>• Microsoft Excel</a:t>
            </a:r>
            <a:endParaRPr lang="en-US" sz="1100" dirty="0"/>
          </a:p>
          <a:p>
            <a:pPr marL="0" indent="0">
              <a:buNone/>
            </a:pPr>
            <a:r>
              <a:rPr lang="en-US" sz="1100" dirty="0">
                <a:solidFill>
                  <a:srgbClr val="1A1A2E"/>
                </a:solidFill>
                <a:ea typeface="Calibri" pitchFamily="34" charset="-122"/>
                <a:cs typeface="Calibri" pitchFamily="34" charset="-120"/>
              </a:rPr>
              <a:t>• Statistical Calculations</a:t>
            </a:r>
            <a:endParaRPr lang="en-US" sz="1100" dirty="0"/>
          </a:p>
          <a:p>
            <a:pPr marL="0" indent="0">
              <a:buNone/>
            </a:pPr>
            <a:r>
              <a:rPr lang="en-US" sz="1100" dirty="0">
                <a:solidFill>
                  <a:srgbClr val="1A1A2E"/>
                </a:solidFill>
                <a:ea typeface="Calibri" pitchFamily="34" charset="-122"/>
                <a:cs typeface="Calibri" pitchFamily="34" charset="-120"/>
              </a:rPr>
              <a:t>• Data Visualization Techniques</a:t>
            </a:r>
            <a:endParaRPr lang="en-US" sz="1100" dirty="0"/>
          </a:p>
        </p:txBody>
      </p:sp>
      <p:sp>
        <p:nvSpPr>
          <p:cNvPr id="14" name="Shape 12"/>
          <p:cNvSpPr/>
          <p:nvPr/>
        </p:nvSpPr>
        <p:spPr>
          <a:xfrm>
            <a:off x="274320" y="2423160"/>
            <a:ext cx="2743200" cy="1965960"/>
          </a:xfrm>
          <a:prstGeom prst="roundRect">
            <a:avLst>
              <a:gd name="adj" fmla="val 4651"/>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15" name="Shape 13"/>
          <p:cNvSpPr/>
          <p:nvPr/>
        </p:nvSpPr>
        <p:spPr>
          <a:xfrm>
            <a:off x="274320" y="2423160"/>
            <a:ext cx="2743200" cy="411480"/>
          </a:xfrm>
          <a:prstGeom prst="roundRect">
            <a:avLst>
              <a:gd name="adj" fmla="val 22222"/>
            </a:avLst>
          </a:prstGeom>
          <a:solidFill>
            <a:schemeClr val="accent1">
              <a:lumMod val="50000"/>
            </a:schemeClr>
          </a:solidFill>
          <a:ln w="12700">
            <a:solidFill>
              <a:schemeClr val="bg1">
                <a:lumMod val="85000"/>
              </a:schemeClr>
            </a:solidFill>
            <a:prstDash val="solid"/>
          </a:ln>
        </p:spPr>
      </p:sp>
      <p:sp>
        <p:nvSpPr>
          <p:cNvPr id="16" name="Text 14"/>
          <p:cNvSpPr/>
          <p:nvPr/>
        </p:nvSpPr>
        <p:spPr>
          <a:xfrm>
            <a:off x="274320" y="2432304"/>
            <a:ext cx="2743200" cy="3931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Event Study Analysis</a:t>
            </a:r>
            <a:endParaRPr lang="en-US" sz="1000" dirty="0"/>
          </a:p>
        </p:txBody>
      </p:sp>
      <p:sp>
        <p:nvSpPr>
          <p:cNvPr id="17" name="Text 15"/>
          <p:cNvSpPr/>
          <p:nvPr/>
        </p:nvSpPr>
        <p:spPr>
          <a:xfrm>
            <a:off x="384048" y="2880360"/>
            <a:ext cx="2542032" cy="14173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Examines stock price and trading volume movements surrounding a major Telegram recommendation to detect abnormal activity.</a:t>
            </a:r>
            <a:endParaRPr lang="en-US" sz="1200" dirty="0"/>
          </a:p>
        </p:txBody>
      </p:sp>
      <p:sp>
        <p:nvSpPr>
          <p:cNvPr id="18" name="Shape 16"/>
          <p:cNvSpPr/>
          <p:nvPr/>
        </p:nvSpPr>
        <p:spPr>
          <a:xfrm>
            <a:off x="3246120" y="2423160"/>
            <a:ext cx="2743200" cy="1965960"/>
          </a:xfrm>
          <a:prstGeom prst="roundRect">
            <a:avLst>
              <a:gd name="adj" fmla="val 4651"/>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19" name="Shape 17"/>
          <p:cNvSpPr/>
          <p:nvPr/>
        </p:nvSpPr>
        <p:spPr>
          <a:xfrm>
            <a:off x="3246120" y="2423160"/>
            <a:ext cx="2743200" cy="411480"/>
          </a:xfrm>
          <a:prstGeom prst="roundRect">
            <a:avLst>
              <a:gd name="adj" fmla="val 22222"/>
            </a:avLst>
          </a:prstGeom>
          <a:solidFill>
            <a:schemeClr val="accent1">
              <a:lumMod val="75000"/>
            </a:schemeClr>
          </a:solidFill>
          <a:ln w="12700">
            <a:solidFill>
              <a:schemeClr val="bg1">
                <a:lumMod val="85000"/>
              </a:schemeClr>
            </a:solidFill>
            <a:prstDash val="solid"/>
          </a:ln>
        </p:spPr>
      </p:sp>
      <p:sp>
        <p:nvSpPr>
          <p:cNvPr id="20" name="Text 18"/>
          <p:cNvSpPr/>
          <p:nvPr/>
        </p:nvSpPr>
        <p:spPr>
          <a:xfrm>
            <a:off x="3246120" y="2432304"/>
            <a:ext cx="2743200" cy="3931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Volume Variance Analysis</a:t>
            </a:r>
            <a:endParaRPr lang="en-US" sz="1000" dirty="0"/>
          </a:p>
        </p:txBody>
      </p:sp>
      <p:sp>
        <p:nvSpPr>
          <p:cNvPr id="21" name="Text 19"/>
          <p:cNvSpPr/>
          <p:nvPr/>
        </p:nvSpPr>
        <p:spPr>
          <a:xfrm>
            <a:off x="3355848" y="2880360"/>
            <a:ext cx="2542032" cy="1417320"/>
          </a:xfrm>
          <a:prstGeom prst="rect">
            <a:avLst/>
          </a:prstGeom>
          <a:noFill/>
          <a:ln/>
        </p:spPr>
        <p:txBody>
          <a:bodyPr wrap="square" lIns="0" tIns="0" rIns="0" bIns="0" rtlCol="0" anchor="ctr"/>
          <a:lstStyle/>
          <a:p>
            <a:pPr marL="0" indent="0">
              <a:buNone/>
            </a:pPr>
            <a:r>
              <a:rPr lang="en-US" sz="1200" dirty="0" smtClean="0">
                <a:solidFill>
                  <a:srgbClr val="1A1A2E"/>
                </a:solidFill>
                <a:latin typeface="Calibri" pitchFamily="34" charset="0"/>
                <a:ea typeface="Calibri" pitchFamily="34" charset="-122"/>
                <a:cs typeface="Calibri" pitchFamily="34" charset="-120"/>
              </a:rPr>
              <a:t>Measures abnormal changes in trading volume after social media promotion to quantify manipulation intensity.</a:t>
            </a:r>
            <a:endParaRPr lang="en-US" sz="1200" dirty="0"/>
          </a:p>
        </p:txBody>
      </p:sp>
      <p:sp>
        <p:nvSpPr>
          <p:cNvPr id="22" name="Shape 20"/>
          <p:cNvSpPr/>
          <p:nvPr/>
        </p:nvSpPr>
        <p:spPr>
          <a:xfrm>
            <a:off x="6217920" y="2423160"/>
            <a:ext cx="2743200" cy="1965960"/>
          </a:xfrm>
          <a:prstGeom prst="roundRect">
            <a:avLst>
              <a:gd name="adj" fmla="val 4651"/>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23" name="Shape 21"/>
          <p:cNvSpPr/>
          <p:nvPr/>
        </p:nvSpPr>
        <p:spPr>
          <a:xfrm>
            <a:off x="6217920" y="2423160"/>
            <a:ext cx="2743200" cy="411480"/>
          </a:xfrm>
          <a:prstGeom prst="roundRect">
            <a:avLst>
              <a:gd name="adj" fmla="val 22222"/>
            </a:avLst>
          </a:prstGeom>
          <a:solidFill>
            <a:schemeClr val="accent1">
              <a:lumMod val="60000"/>
              <a:lumOff val="40000"/>
            </a:schemeClr>
          </a:solidFill>
          <a:ln w="12700">
            <a:solidFill>
              <a:schemeClr val="bg1">
                <a:lumMod val="85000"/>
              </a:schemeClr>
            </a:solidFill>
            <a:prstDash val="solid"/>
          </a:ln>
        </p:spPr>
      </p:sp>
      <p:sp>
        <p:nvSpPr>
          <p:cNvPr id="24" name="Text 22"/>
          <p:cNvSpPr/>
          <p:nvPr/>
        </p:nvSpPr>
        <p:spPr>
          <a:xfrm>
            <a:off x="6217920" y="2432304"/>
            <a:ext cx="2743200" cy="39319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Retail Loss Analysis</a:t>
            </a:r>
            <a:endParaRPr lang="en-US" sz="1000" dirty="0"/>
          </a:p>
        </p:txBody>
      </p:sp>
      <p:sp>
        <p:nvSpPr>
          <p:cNvPr id="25" name="Text 23"/>
          <p:cNvSpPr/>
          <p:nvPr/>
        </p:nvSpPr>
        <p:spPr>
          <a:xfrm>
            <a:off x="6327648" y="2880360"/>
            <a:ext cx="2542032" cy="1417320"/>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Calculates potential investor losses after the price collapse, expressing losses as a percentage of peak investment value.</a:t>
            </a:r>
            <a:endParaRPr lang="en-US" sz="1200" dirty="0"/>
          </a:p>
        </p:txBody>
      </p:sp>
      <p:sp>
        <p:nvSpPr>
          <p:cNvPr id="27" name="Text 25"/>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Excel Dashboard &amp; Data Analysis</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7" name="Text 5"/>
          <p:cNvSpPr/>
          <p:nvPr/>
        </p:nvSpPr>
        <p:spPr>
          <a:xfrm>
            <a:off x="411480" y="987552"/>
            <a:ext cx="4754880" cy="2816352"/>
          </a:xfrm>
          <a:prstGeom prst="rect">
            <a:avLst/>
          </a:prstGeom>
          <a:noFill/>
          <a:ln/>
        </p:spPr>
        <p:txBody>
          <a:bodyPr wrap="square" lIns="0" tIns="0" rIns="0" bIns="0" rtlCol="0" anchor="ctr"/>
          <a:lstStyle/>
          <a:p>
            <a:pPr marL="0" indent="0" algn="ctr">
              <a:buNone/>
            </a:pPr>
            <a:endParaRPr lang="en-US" sz="1300" dirty="0"/>
          </a:p>
        </p:txBody>
      </p:sp>
      <p:sp>
        <p:nvSpPr>
          <p:cNvPr id="8" name="Shape 6"/>
          <p:cNvSpPr/>
          <p:nvPr/>
        </p:nvSpPr>
        <p:spPr>
          <a:xfrm>
            <a:off x="5532120" y="868680"/>
            <a:ext cx="3337560" cy="1508760"/>
          </a:xfrm>
          <a:prstGeom prst="roundRect">
            <a:avLst>
              <a:gd name="adj" fmla="val 6061"/>
            </a:avLst>
          </a:prstGeom>
          <a:solidFill>
            <a:srgbClr val="FFFFFF"/>
          </a:solidFill>
          <a:ln w="12700">
            <a:solidFill>
              <a:srgbClr val="E2E8F0"/>
            </a:solidFill>
            <a:prstDash val="solid"/>
          </a:ln>
          <a:effectLst>
            <a:outerShdw blurRad="63500" dist="25400" dir="2700000" algn="bl" rotWithShape="0">
              <a:srgbClr val="000000">
                <a:alpha val="8000"/>
              </a:srgbClr>
            </a:outerShdw>
          </a:effectLst>
        </p:spPr>
      </p:sp>
      <p:sp>
        <p:nvSpPr>
          <p:cNvPr id="9" name="Text 7"/>
          <p:cNvSpPr/>
          <p:nvPr/>
        </p:nvSpPr>
        <p:spPr>
          <a:xfrm>
            <a:off x="5669280" y="914400"/>
            <a:ext cx="3108960" cy="274320"/>
          </a:xfrm>
          <a:prstGeom prst="rect">
            <a:avLst/>
          </a:prstGeom>
          <a:noFill/>
          <a:ln/>
        </p:spPr>
        <p:txBody>
          <a:bodyPr wrap="square" lIns="0" tIns="0" rIns="0" bIns="0" rtlCol="0" anchor="ctr"/>
          <a:lstStyle/>
          <a:p>
            <a:pPr marL="0" indent="0">
              <a:buNone/>
            </a:pPr>
            <a:r>
              <a:rPr lang="en-US" sz="1050" b="1" dirty="0">
                <a:solidFill>
                  <a:srgbClr val="1A3F7A"/>
                </a:solidFill>
                <a:latin typeface="Calibri" pitchFamily="34" charset="0"/>
                <a:ea typeface="Calibri" pitchFamily="34" charset="-122"/>
                <a:cs typeface="Calibri" pitchFamily="34" charset="-120"/>
              </a:rPr>
              <a:t>KPI Results</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3695485678"/>
              </p:ext>
            </p:extLst>
          </p:nvPr>
        </p:nvGraphicFramePr>
        <p:xfrm>
          <a:off x="5669280" y="1156718"/>
          <a:ext cx="3108960" cy="1143000"/>
        </p:xfrm>
        <a:graphic>
          <a:graphicData uri="http://schemas.openxmlformats.org/drawingml/2006/table">
            <a:tbl>
              <a:tblPr/>
              <a:tblGrid>
                <a:gridCol w="1920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209954">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Metric</a:t>
                      </a:r>
                      <a:endParaRPr lang="en-US" sz="900" dirty="0">
                        <a:solidFill>
                          <a:schemeClr val="bg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F7A"/>
                    </a:solidFill>
                  </a:tcPr>
                </a:tc>
                <a:tc>
                  <a:txBody>
                    <a:bodyPr/>
                    <a:lstStyle/>
                    <a:p>
                      <a:pPr marL="0" indent="0" algn="ctr">
                        <a:buNone/>
                      </a:pPr>
                      <a:r>
                        <a:rPr lang="en-US" sz="900" b="1" dirty="0">
                          <a:solidFill>
                            <a:schemeClr val="bg1"/>
                          </a:solidFill>
                          <a:latin typeface="Calibri" pitchFamily="34" charset="0"/>
                          <a:ea typeface="Calibri" pitchFamily="34" charset="-122"/>
                          <a:cs typeface="Calibri" pitchFamily="34" charset="-120"/>
                        </a:rPr>
                        <a:t>Value</a:t>
                      </a:r>
                      <a:endParaRPr lang="en-US" sz="900" dirty="0">
                        <a:solidFill>
                          <a:schemeClr val="bg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A3F7A"/>
                    </a:solidFill>
                  </a:tcPr>
                </a:tc>
                <a:extLst>
                  <a:ext uri="{0D108BD9-81ED-4DB2-BD59-A6C34878D82A}">
                    <a16:rowId xmlns:a16="http://schemas.microsoft.com/office/drawing/2014/main" val="10000"/>
                  </a:ext>
                </a:extLst>
              </a:tr>
              <a:tr h="209954">
                <a:tc>
                  <a:txBody>
                    <a:bodyPr/>
                    <a:lstStyle/>
                    <a:p>
                      <a:pPr marL="0" indent="0">
                        <a:buNone/>
                      </a:pPr>
                      <a:r>
                        <a:rPr lang="en-US" sz="900" dirty="0">
                          <a:solidFill>
                            <a:schemeClr val="tx1"/>
                          </a:solidFill>
                          <a:latin typeface="Calibri" pitchFamily="34" charset="0"/>
                          <a:ea typeface="Calibri" pitchFamily="34" charset="-122"/>
                          <a:cs typeface="Calibri" pitchFamily="34" charset="-120"/>
                        </a:rPr>
                        <a:t>Illegal Gains</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₹20.25 Crore</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9954">
                <a:tc>
                  <a:txBody>
                    <a:bodyPr/>
                    <a:lstStyle/>
                    <a:p>
                      <a:pPr marL="0" indent="0">
                        <a:buNone/>
                      </a:pPr>
                      <a:r>
                        <a:rPr lang="en-US" sz="900" dirty="0">
                          <a:solidFill>
                            <a:schemeClr val="tx1"/>
                          </a:solidFill>
                          <a:latin typeface="Calibri" pitchFamily="34" charset="0"/>
                          <a:ea typeface="Calibri" pitchFamily="34" charset="-122"/>
                          <a:cs typeface="Calibri" pitchFamily="34" charset="-120"/>
                        </a:rPr>
                        <a:t>Stocks Manipulated</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B"/>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82</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209954">
                <a:tc>
                  <a:txBody>
                    <a:bodyPr/>
                    <a:lstStyle/>
                    <a:p>
                      <a:pPr marL="0" indent="0">
                        <a:buNone/>
                      </a:pPr>
                      <a:r>
                        <a:rPr lang="en-US" sz="900" dirty="0">
                          <a:solidFill>
                            <a:schemeClr val="tx1"/>
                          </a:solidFill>
                          <a:latin typeface="Calibri" pitchFamily="34" charset="0"/>
                          <a:ea typeface="Calibri" pitchFamily="34" charset="-122"/>
                          <a:cs typeface="Calibri" pitchFamily="34" charset="-120"/>
                        </a:rPr>
                        <a:t>Operators</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7</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9954">
                <a:tc>
                  <a:txBody>
                    <a:bodyPr/>
                    <a:lstStyle/>
                    <a:p>
                      <a:pPr marL="0" indent="0">
                        <a:buNone/>
                      </a:pPr>
                      <a:r>
                        <a:rPr lang="en-US" sz="900" dirty="0">
                          <a:solidFill>
                            <a:schemeClr val="tx1"/>
                          </a:solidFill>
                          <a:latin typeface="Calibri" pitchFamily="34" charset="0"/>
                          <a:ea typeface="Calibri" pitchFamily="34" charset="-122"/>
                          <a:cs typeface="Calibri" pitchFamily="34" charset="-120"/>
                        </a:rPr>
                        <a:t>Trading Activity Increase</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B"/>
                    </a:solidFill>
                  </a:tcPr>
                </a:tc>
                <a:tc>
                  <a:txBody>
                    <a:bodyPr/>
                    <a:lstStyle/>
                    <a:p>
                      <a:pPr marL="0" indent="0" algn="ctr">
                        <a:buNone/>
                      </a:pPr>
                      <a:r>
                        <a:rPr lang="en-US" sz="900" b="1" dirty="0">
                          <a:solidFill>
                            <a:schemeClr val="tx1"/>
                          </a:solidFill>
                          <a:latin typeface="Calibri" pitchFamily="34" charset="0"/>
                          <a:ea typeface="Calibri" pitchFamily="34" charset="-122"/>
                          <a:cs typeface="Calibri" pitchFamily="34" charset="-120"/>
                        </a:rPr>
                        <a:t>86%</a:t>
                      </a:r>
                      <a:endParaRPr lang="en-US" sz="900" dirty="0">
                        <a:solidFill>
                          <a:schemeClr val="tx1"/>
                        </a:solidFill>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bl>
          </a:graphicData>
        </a:graphic>
      </p:graphicFrame>
      <p:sp>
        <p:nvSpPr>
          <p:cNvPr id="11" name="Shape 8"/>
          <p:cNvSpPr/>
          <p:nvPr/>
        </p:nvSpPr>
        <p:spPr>
          <a:xfrm>
            <a:off x="5532120" y="2487168"/>
            <a:ext cx="3337560" cy="1417320"/>
          </a:xfrm>
          <a:prstGeom prst="roundRect">
            <a:avLst>
              <a:gd name="adj" fmla="val 645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12" name="Text 9"/>
          <p:cNvSpPr/>
          <p:nvPr/>
        </p:nvSpPr>
        <p:spPr>
          <a:xfrm>
            <a:off x="5669280" y="2532888"/>
            <a:ext cx="3108960" cy="274320"/>
          </a:xfrm>
          <a:prstGeom prst="rect">
            <a:avLst/>
          </a:prstGeom>
          <a:noFill/>
          <a:ln/>
        </p:spPr>
        <p:txBody>
          <a:bodyPr wrap="square" lIns="0" tIns="0" rIns="0" bIns="0" rtlCol="0" anchor="ctr"/>
          <a:lstStyle/>
          <a:p>
            <a:pPr marL="0" indent="0">
              <a:buNone/>
            </a:pPr>
            <a:r>
              <a:rPr lang="en-US" sz="1050" b="1" dirty="0">
                <a:solidFill>
                  <a:srgbClr val="1A3F7A"/>
                </a:solidFill>
                <a:latin typeface="Calibri" pitchFamily="34" charset="0"/>
                <a:ea typeface="Calibri" pitchFamily="34" charset="-122"/>
                <a:cs typeface="Calibri" pitchFamily="34" charset="-120"/>
              </a:rPr>
              <a:t>Event Study Findings</a:t>
            </a:r>
            <a:endParaRPr lang="en-US" sz="1050" dirty="0"/>
          </a:p>
        </p:txBody>
      </p:sp>
      <p:sp>
        <p:nvSpPr>
          <p:cNvPr id="13" name="Text 10"/>
          <p:cNvSpPr/>
          <p:nvPr/>
        </p:nvSpPr>
        <p:spPr>
          <a:xfrm>
            <a:off x="5669280" y="2834640"/>
            <a:ext cx="3063240" cy="96012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 Avg Pre-Pump Volume: 10,500 Shares</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 Peak Trading Volume: 3,10,000 Shares</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 Price Increased: ₹45 → ₹80</a:t>
            </a:r>
            <a:endParaRPr lang="en-US" sz="900" dirty="0"/>
          </a:p>
          <a:p>
            <a:pPr marL="0" indent="0">
              <a:buNone/>
            </a:pPr>
            <a:r>
              <a:rPr lang="en-US" sz="900" dirty="0">
                <a:solidFill>
                  <a:srgbClr val="1A1A2E"/>
                </a:solidFill>
                <a:latin typeface="Calibri" pitchFamily="34" charset="0"/>
                <a:ea typeface="Calibri" pitchFamily="34" charset="-122"/>
                <a:cs typeface="Calibri" pitchFamily="34" charset="-120"/>
              </a:rPr>
              <a:t>• Price Collapsed: ₹80 → ₹30</a:t>
            </a:r>
            <a:endParaRPr lang="en-US" sz="900" dirty="0"/>
          </a:p>
        </p:txBody>
      </p:sp>
      <p:sp>
        <p:nvSpPr>
          <p:cNvPr id="15" name="Text 12"/>
          <p:cNvSpPr/>
          <p:nvPr/>
        </p:nvSpPr>
        <p:spPr>
          <a:xfrm>
            <a:off x="457200" y="4457700"/>
            <a:ext cx="8229600" cy="457200"/>
          </a:xfrm>
          <a:prstGeom prst="rect">
            <a:avLst/>
          </a:prstGeom>
          <a:solidFill>
            <a:schemeClr val="accent1">
              <a:lumMod val="20000"/>
              <a:lumOff val="80000"/>
            </a:schemeClr>
          </a:solidFill>
          <a:ln>
            <a:solidFill>
              <a:srgbClr val="FF0000"/>
            </a:solidFill>
          </a:ln>
        </p:spPr>
        <p:txBody>
          <a:bodyPr wrap="square" lIns="0" tIns="0" rIns="0" bIns="0" rtlCol="0" anchor="ctr"/>
          <a:lstStyle/>
          <a:p>
            <a:pPr marL="0" indent="0" algn="ctr">
              <a:buNone/>
            </a:pPr>
            <a:r>
              <a:rPr lang="en-US" sz="1050" b="1" dirty="0" smtClean="0">
                <a:solidFill>
                  <a:srgbClr val="FF0000"/>
                </a:solidFill>
                <a:latin typeface="Calibri" pitchFamily="34" charset="0"/>
                <a:ea typeface="Calibri" pitchFamily="34" charset="-122"/>
                <a:cs typeface="Calibri" pitchFamily="34" charset="-120"/>
              </a:rPr>
              <a:t>⚠ </a:t>
            </a:r>
            <a:r>
              <a:rPr lang="en-US" sz="1050" b="1" dirty="0">
                <a:solidFill>
                  <a:srgbClr val="FF0000"/>
                </a:solidFill>
                <a:latin typeface="Calibri" pitchFamily="34" charset="0"/>
                <a:ea typeface="Calibri" pitchFamily="34" charset="-122"/>
                <a:cs typeface="Calibri" pitchFamily="34" charset="-120"/>
              </a:rPr>
              <a:t>Retail Investor Impact: Investors purchasing at peak price (₹80) experienced a loss of approximately 62.5% when price collapsed to ₹30.</a:t>
            </a:r>
            <a:endParaRPr lang="en-US" sz="1050" dirty="0">
              <a:solidFill>
                <a:srgbClr val="FF0000"/>
              </a:solidFill>
            </a:endParaRPr>
          </a:p>
        </p:txBody>
      </p:sp>
      <p:sp>
        <p:nvSpPr>
          <p:cNvPr id="17" name="Text 14"/>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pic>
        <p:nvPicPr>
          <p:cNvPr id="18" name="Picture 17"/>
          <p:cNvPicPr>
            <a:picLocks noChangeAspect="1"/>
          </p:cNvPicPr>
          <p:nvPr/>
        </p:nvPicPr>
        <p:blipFill>
          <a:blip r:embed="rId3"/>
          <a:stretch>
            <a:fillRect/>
          </a:stretch>
        </p:blipFill>
        <p:spPr>
          <a:xfrm>
            <a:off x="240976" y="987552"/>
            <a:ext cx="5199704" cy="3217820"/>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Regulatory Framework</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6" name="Shape 4"/>
          <p:cNvSpPr/>
          <p:nvPr/>
        </p:nvSpPr>
        <p:spPr>
          <a:xfrm>
            <a:off x="274320" y="868680"/>
            <a:ext cx="4114800" cy="402336"/>
          </a:xfrm>
          <a:prstGeom prst="roundRect">
            <a:avLst>
              <a:gd name="adj" fmla="val 22727"/>
            </a:avLst>
          </a:prstGeom>
          <a:solidFill>
            <a:schemeClr val="accent1">
              <a:lumMod val="50000"/>
            </a:schemeClr>
          </a:solidFill>
          <a:ln w="12700">
            <a:solidFill>
              <a:srgbClr val="1A3F7A"/>
            </a:solidFill>
            <a:prstDash val="solid"/>
          </a:ln>
        </p:spPr>
      </p:sp>
      <p:sp>
        <p:nvSpPr>
          <p:cNvPr id="7" name="Text 5"/>
          <p:cNvSpPr/>
          <p:nvPr/>
        </p:nvSpPr>
        <p:spPr>
          <a:xfrm>
            <a:off x="365760" y="905256"/>
            <a:ext cx="3931920" cy="34747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SEBI (PFUTP) Regulations, 2003</a:t>
            </a:r>
            <a:endParaRPr lang="en-US" sz="950" dirty="0"/>
          </a:p>
        </p:txBody>
      </p:sp>
      <p:sp>
        <p:nvSpPr>
          <p:cNvPr id="8" name="Shape 6"/>
          <p:cNvSpPr/>
          <p:nvPr/>
        </p:nvSpPr>
        <p:spPr>
          <a:xfrm>
            <a:off x="384048" y="1344168"/>
            <a:ext cx="3886200" cy="566928"/>
          </a:xfrm>
          <a:prstGeom prst="roundRect">
            <a:avLst>
              <a:gd name="adj" fmla="val 9677"/>
            </a:avLst>
          </a:prstGeom>
          <a:solidFill>
            <a:srgbClr val="F4F6FB"/>
          </a:solidFill>
          <a:ln w="12700">
            <a:solidFill>
              <a:srgbClr val="E2E8F0"/>
            </a:solidFill>
            <a:prstDash val="solid"/>
          </a:ln>
        </p:spPr>
      </p:sp>
      <p:sp>
        <p:nvSpPr>
          <p:cNvPr id="9" name="Text 7"/>
          <p:cNvSpPr/>
          <p:nvPr/>
        </p:nvSpPr>
        <p:spPr>
          <a:xfrm>
            <a:off x="475488" y="1380744"/>
            <a:ext cx="3566160" cy="219456"/>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Section 3</a:t>
            </a:r>
            <a:endParaRPr lang="en-US" sz="950" dirty="0"/>
          </a:p>
        </p:txBody>
      </p:sp>
      <p:sp>
        <p:nvSpPr>
          <p:cNvPr id="10" name="Text 8"/>
          <p:cNvSpPr/>
          <p:nvPr/>
        </p:nvSpPr>
        <p:spPr>
          <a:xfrm>
            <a:off x="475488" y="1600200"/>
            <a:ext cx="3566160" cy="27432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Prohibits fraudulent and unfair trade practices.</a:t>
            </a:r>
            <a:endParaRPr lang="en-US" sz="850" dirty="0"/>
          </a:p>
        </p:txBody>
      </p:sp>
      <p:sp>
        <p:nvSpPr>
          <p:cNvPr id="11" name="Shape 9"/>
          <p:cNvSpPr/>
          <p:nvPr/>
        </p:nvSpPr>
        <p:spPr>
          <a:xfrm>
            <a:off x="384048" y="2002536"/>
            <a:ext cx="3886200" cy="566928"/>
          </a:xfrm>
          <a:prstGeom prst="roundRect">
            <a:avLst>
              <a:gd name="adj" fmla="val 9677"/>
            </a:avLst>
          </a:prstGeom>
          <a:solidFill>
            <a:srgbClr val="F4F6FB"/>
          </a:solidFill>
          <a:ln w="12700">
            <a:solidFill>
              <a:srgbClr val="E2E8F0"/>
            </a:solidFill>
            <a:prstDash val="solid"/>
          </a:ln>
        </p:spPr>
      </p:sp>
      <p:sp>
        <p:nvSpPr>
          <p:cNvPr id="12" name="Text 10"/>
          <p:cNvSpPr/>
          <p:nvPr/>
        </p:nvSpPr>
        <p:spPr>
          <a:xfrm>
            <a:off x="475488" y="2039112"/>
            <a:ext cx="3566160" cy="219456"/>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Section 4</a:t>
            </a:r>
            <a:endParaRPr lang="en-US" sz="950" dirty="0"/>
          </a:p>
        </p:txBody>
      </p:sp>
      <p:sp>
        <p:nvSpPr>
          <p:cNvPr id="13" name="Text 11"/>
          <p:cNvSpPr/>
          <p:nvPr/>
        </p:nvSpPr>
        <p:spPr>
          <a:xfrm>
            <a:off x="475488" y="2258568"/>
            <a:ext cx="3566160" cy="27432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Prohibits artificial manipulation of prices and trading volumes.</a:t>
            </a:r>
            <a:endParaRPr lang="en-US" sz="850" dirty="0"/>
          </a:p>
        </p:txBody>
      </p:sp>
      <p:sp>
        <p:nvSpPr>
          <p:cNvPr id="15" name="Shape 13"/>
          <p:cNvSpPr/>
          <p:nvPr/>
        </p:nvSpPr>
        <p:spPr>
          <a:xfrm>
            <a:off x="4754880" y="868680"/>
            <a:ext cx="4114800" cy="402336"/>
          </a:xfrm>
          <a:prstGeom prst="roundRect">
            <a:avLst>
              <a:gd name="adj" fmla="val 22727"/>
            </a:avLst>
          </a:prstGeom>
          <a:solidFill>
            <a:schemeClr val="accent1">
              <a:lumMod val="75000"/>
            </a:schemeClr>
          </a:solidFill>
          <a:ln w="12700">
            <a:solidFill>
              <a:srgbClr val="3A7BD5"/>
            </a:solidFill>
            <a:prstDash val="solid"/>
          </a:ln>
        </p:spPr>
      </p:sp>
      <p:sp>
        <p:nvSpPr>
          <p:cNvPr id="16" name="Text 14"/>
          <p:cNvSpPr/>
          <p:nvPr/>
        </p:nvSpPr>
        <p:spPr>
          <a:xfrm>
            <a:off x="4846320" y="905256"/>
            <a:ext cx="3931920" cy="34747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SEBI Investment Advisers Regulations, 2013</a:t>
            </a:r>
            <a:endParaRPr lang="en-US" sz="950" dirty="0"/>
          </a:p>
        </p:txBody>
      </p:sp>
      <p:sp>
        <p:nvSpPr>
          <p:cNvPr id="17" name="Shape 15"/>
          <p:cNvSpPr/>
          <p:nvPr/>
        </p:nvSpPr>
        <p:spPr>
          <a:xfrm>
            <a:off x="4864608" y="1344168"/>
            <a:ext cx="3886200" cy="566928"/>
          </a:xfrm>
          <a:prstGeom prst="roundRect">
            <a:avLst>
              <a:gd name="adj" fmla="val 9677"/>
            </a:avLst>
          </a:prstGeom>
          <a:solidFill>
            <a:srgbClr val="F4F6FB"/>
          </a:solidFill>
          <a:ln w="12700">
            <a:solidFill>
              <a:srgbClr val="E2E8F0"/>
            </a:solidFill>
            <a:prstDash val="solid"/>
          </a:ln>
        </p:spPr>
      </p:sp>
      <p:sp>
        <p:nvSpPr>
          <p:cNvPr id="18" name="Text 16"/>
          <p:cNvSpPr/>
          <p:nvPr/>
        </p:nvSpPr>
        <p:spPr>
          <a:xfrm>
            <a:off x="4956048" y="1380744"/>
            <a:ext cx="3566160" cy="219456"/>
          </a:xfrm>
          <a:prstGeom prst="rect">
            <a:avLst/>
          </a:prstGeom>
          <a:noFill/>
          <a:ln/>
        </p:spPr>
        <p:txBody>
          <a:bodyPr wrap="square" lIns="0" tIns="0" rIns="0" bIns="0" rtlCol="0" anchor="ctr"/>
          <a:lstStyle/>
          <a:p>
            <a:pPr marL="0" indent="0">
              <a:buNone/>
            </a:pPr>
            <a:r>
              <a:rPr lang="en-US" sz="950" b="1" dirty="0">
                <a:solidFill>
                  <a:srgbClr val="3A7BD5"/>
                </a:solidFill>
                <a:latin typeface="Calibri" pitchFamily="34" charset="0"/>
                <a:ea typeface="Calibri" pitchFamily="34" charset="-122"/>
                <a:cs typeface="Calibri" pitchFamily="34" charset="-120"/>
              </a:rPr>
              <a:t>Regulation</a:t>
            </a:r>
            <a:endParaRPr lang="en-US" sz="950" dirty="0"/>
          </a:p>
        </p:txBody>
      </p:sp>
      <p:sp>
        <p:nvSpPr>
          <p:cNvPr id="19" name="Text 17"/>
          <p:cNvSpPr/>
          <p:nvPr/>
        </p:nvSpPr>
        <p:spPr>
          <a:xfrm>
            <a:off x="4956048" y="1600200"/>
            <a:ext cx="3566160" cy="27432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Providing stock recommendations without valid SEBI registration is strictly prohibited.</a:t>
            </a:r>
            <a:endParaRPr lang="en-US" sz="850" dirty="0"/>
          </a:p>
        </p:txBody>
      </p:sp>
      <p:sp>
        <p:nvSpPr>
          <p:cNvPr id="20" name="Shape 18"/>
          <p:cNvSpPr/>
          <p:nvPr/>
        </p:nvSpPr>
        <p:spPr>
          <a:xfrm>
            <a:off x="274320" y="2926080"/>
            <a:ext cx="4114800" cy="1499616"/>
          </a:xfrm>
          <a:prstGeom prst="roundRect">
            <a:avLst>
              <a:gd name="adj" fmla="val 4762"/>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21" name="Shape 19"/>
          <p:cNvSpPr/>
          <p:nvPr/>
        </p:nvSpPr>
        <p:spPr>
          <a:xfrm>
            <a:off x="274320" y="2926080"/>
            <a:ext cx="4114800" cy="402336"/>
          </a:xfrm>
          <a:prstGeom prst="roundRect">
            <a:avLst>
              <a:gd name="adj" fmla="val 22727"/>
            </a:avLst>
          </a:prstGeom>
          <a:solidFill>
            <a:schemeClr val="accent1">
              <a:lumMod val="60000"/>
              <a:lumOff val="40000"/>
            </a:schemeClr>
          </a:solidFill>
          <a:ln w="12700">
            <a:solidFill>
              <a:schemeClr val="bg1">
                <a:lumMod val="85000"/>
              </a:schemeClr>
            </a:solidFill>
            <a:prstDash val="solid"/>
          </a:ln>
        </p:spPr>
      </p:sp>
      <p:sp>
        <p:nvSpPr>
          <p:cNvPr id="22" name="Text 20"/>
          <p:cNvSpPr/>
          <p:nvPr/>
        </p:nvSpPr>
        <p:spPr>
          <a:xfrm>
            <a:off x="365760" y="2962656"/>
            <a:ext cx="3931920" cy="34747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Information Technology Act, 2000</a:t>
            </a:r>
            <a:endParaRPr lang="en-US" sz="950" dirty="0"/>
          </a:p>
        </p:txBody>
      </p:sp>
      <p:sp>
        <p:nvSpPr>
          <p:cNvPr id="24" name="Text 22"/>
          <p:cNvSpPr/>
          <p:nvPr/>
        </p:nvSpPr>
        <p:spPr>
          <a:xfrm>
            <a:off x="475488" y="3438144"/>
            <a:ext cx="3566160" cy="219456"/>
          </a:xfrm>
          <a:prstGeom prst="rect">
            <a:avLst/>
          </a:prstGeom>
          <a:noFill/>
          <a:ln/>
        </p:spPr>
        <p:txBody>
          <a:bodyPr wrap="square" lIns="0" tIns="0" rIns="0" bIns="0" rtlCol="0" anchor="ctr"/>
          <a:lstStyle/>
          <a:p>
            <a:pPr marL="0" indent="0">
              <a:buNone/>
            </a:pPr>
            <a:r>
              <a:rPr lang="en-US" sz="950" b="1" dirty="0">
                <a:solidFill>
                  <a:schemeClr val="tx1">
                    <a:lumMod val="85000"/>
                    <a:lumOff val="15000"/>
                  </a:schemeClr>
                </a:solidFill>
                <a:latin typeface="Calibri" pitchFamily="34" charset="0"/>
                <a:ea typeface="Calibri" pitchFamily="34" charset="-122"/>
                <a:cs typeface="Calibri" pitchFamily="34" charset="-120"/>
              </a:rPr>
              <a:t>Section 66D</a:t>
            </a:r>
            <a:endParaRPr lang="en-US" sz="950" dirty="0">
              <a:solidFill>
                <a:schemeClr val="tx1">
                  <a:lumMod val="85000"/>
                  <a:lumOff val="15000"/>
                </a:schemeClr>
              </a:solidFill>
            </a:endParaRPr>
          </a:p>
        </p:txBody>
      </p:sp>
      <p:sp>
        <p:nvSpPr>
          <p:cNvPr id="25" name="Text 23"/>
          <p:cNvSpPr/>
          <p:nvPr/>
        </p:nvSpPr>
        <p:spPr>
          <a:xfrm>
            <a:off x="475488" y="3657600"/>
            <a:ext cx="3566160" cy="27432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Punishes online cheating and impersonation via digital platforms.</a:t>
            </a:r>
            <a:endParaRPr lang="en-US" sz="850" dirty="0"/>
          </a:p>
        </p:txBody>
      </p:sp>
      <p:sp>
        <p:nvSpPr>
          <p:cNvPr id="26" name="Shape 24"/>
          <p:cNvSpPr/>
          <p:nvPr/>
        </p:nvSpPr>
        <p:spPr>
          <a:xfrm>
            <a:off x="4754880" y="2926080"/>
            <a:ext cx="4114800" cy="1499616"/>
          </a:xfrm>
          <a:prstGeom prst="roundRect">
            <a:avLst>
              <a:gd name="adj" fmla="val 4762"/>
            </a:avLst>
          </a:prstGeom>
          <a:solidFill>
            <a:srgbClr val="FFFFFF"/>
          </a:solidFill>
          <a:ln w="12700">
            <a:solidFill>
              <a:srgbClr val="E2E8F0"/>
            </a:solidFill>
            <a:prstDash val="solid"/>
          </a:ln>
          <a:effectLst>
            <a:outerShdw blurRad="63500" dist="25400" dir="2700000" algn="bl" rotWithShape="0">
              <a:srgbClr val="000000">
                <a:alpha val="7000"/>
              </a:srgbClr>
            </a:outerShdw>
          </a:effectLst>
        </p:spPr>
      </p:sp>
      <p:sp>
        <p:nvSpPr>
          <p:cNvPr id="27" name="Shape 25"/>
          <p:cNvSpPr/>
          <p:nvPr/>
        </p:nvSpPr>
        <p:spPr>
          <a:xfrm>
            <a:off x="4754880" y="2926080"/>
            <a:ext cx="4114800" cy="402336"/>
          </a:xfrm>
          <a:prstGeom prst="roundRect">
            <a:avLst>
              <a:gd name="adj" fmla="val 22727"/>
            </a:avLst>
          </a:prstGeom>
          <a:solidFill>
            <a:schemeClr val="accent1">
              <a:lumMod val="40000"/>
              <a:lumOff val="60000"/>
            </a:schemeClr>
          </a:solidFill>
          <a:ln w="12700">
            <a:solidFill>
              <a:schemeClr val="bg1">
                <a:lumMod val="85000"/>
              </a:schemeClr>
            </a:solidFill>
            <a:prstDash val="solid"/>
          </a:ln>
        </p:spPr>
      </p:sp>
      <p:sp>
        <p:nvSpPr>
          <p:cNvPr id="28" name="Text 26"/>
          <p:cNvSpPr/>
          <p:nvPr/>
        </p:nvSpPr>
        <p:spPr>
          <a:xfrm>
            <a:off x="4846320" y="2962656"/>
            <a:ext cx="3931920" cy="34747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Bharatiya Nyaya Sanhita (BNS)</a:t>
            </a:r>
            <a:endParaRPr lang="en-US" sz="950" dirty="0"/>
          </a:p>
        </p:txBody>
      </p:sp>
      <p:sp>
        <p:nvSpPr>
          <p:cNvPr id="30" name="Text 28"/>
          <p:cNvSpPr/>
          <p:nvPr/>
        </p:nvSpPr>
        <p:spPr>
          <a:xfrm>
            <a:off x="4956048" y="3438144"/>
            <a:ext cx="3566160" cy="219456"/>
          </a:xfrm>
          <a:prstGeom prst="rect">
            <a:avLst/>
          </a:prstGeom>
          <a:noFill/>
          <a:ln/>
        </p:spPr>
        <p:txBody>
          <a:bodyPr wrap="square" lIns="0" tIns="0" rIns="0" bIns="0" rtlCol="0" anchor="ctr"/>
          <a:lstStyle/>
          <a:p>
            <a:pPr marL="0" indent="0">
              <a:buNone/>
            </a:pPr>
            <a:r>
              <a:rPr lang="en-US" sz="950" b="1" dirty="0">
                <a:solidFill>
                  <a:schemeClr val="tx1">
                    <a:lumMod val="85000"/>
                    <a:lumOff val="15000"/>
                  </a:schemeClr>
                </a:solidFill>
                <a:latin typeface="Calibri" pitchFamily="34" charset="0"/>
                <a:ea typeface="Calibri" pitchFamily="34" charset="-122"/>
                <a:cs typeface="Calibri" pitchFamily="34" charset="-120"/>
              </a:rPr>
              <a:t>Section 318(4)</a:t>
            </a:r>
            <a:endParaRPr lang="en-US" sz="950" dirty="0">
              <a:solidFill>
                <a:schemeClr val="tx1">
                  <a:lumMod val="85000"/>
                  <a:lumOff val="15000"/>
                </a:schemeClr>
              </a:solidFill>
            </a:endParaRPr>
          </a:p>
        </p:txBody>
      </p:sp>
      <p:sp>
        <p:nvSpPr>
          <p:cNvPr id="31" name="Text 29"/>
          <p:cNvSpPr/>
          <p:nvPr/>
        </p:nvSpPr>
        <p:spPr>
          <a:xfrm>
            <a:off x="4956048" y="3657600"/>
            <a:ext cx="3566160" cy="274320"/>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Addresses criminal cheating and fraudulent conduct.</a:t>
            </a:r>
            <a:endParaRPr lang="en-US" sz="850" dirty="0"/>
          </a:p>
        </p:txBody>
      </p:sp>
      <p:sp>
        <p:nvSpPr>
          <p:cNvPr id="33" name="Text 31"/>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r>
              <a:rPr lang="en-US" sz="1900" b="1" dirty="0" smtClean="0">
                <a:solidFill>
                  <a:schemeClr val="bg1"/>
                </a:solidFill>
              </a:rPr>
              <a:t>Proposed Innovative </a:t>
            </a:r>
            <a:r>
              <a:rPr lang="en-US" sz="1900" b="1" dirty="0">
                <a:solidFill>
                  <a:schemeClr val="bg1"/>
                </a:solidFill>
              </a:rPr>
              <a:t>Solutions</a:t>
            </a:r>
            <a:endParaRPr lang="en-US" sz="1900" b="1" dirty="0">
              <a:solidFill>
                <a:schemeClr val="bg1"/>
              </a:solidFill>
            </a:endParaRPr>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6" name="Text 4"/>
          <p:cNvSpPr/>
          <p:nvPr/>
        </p:nvSpPr>
        <p:spPr>
          <a:xfrm>
            <a:off x="457200" y="896112"/>
            <a:ext cx="8229600" cy="548640"/>
          </a:xfrm>
          <a:prstGeom prst="rect">
            <a:avLst/>
          </a:prstGeom>
          <a:noFill/>
          <a:ln/>
        </p:spPr>
        <p:txBody>
          <a:bodyPr wrap="square" lIns="0" tIns="0" rIns="0" bIns="0" rtlCol="0" anchor="ctr"/>
          <a:lstStyle/>
          <a:p>
            <a:pPr marL="0" indent="0" algn="ctr">
              <a:buNone/>
            </a:pPr>
            <a:endParaRPr lang="en-US" sz="1100" dirty="0">
              <a:solidFill>
                <a:srgbClr val="FF0000"/>
              </a:solidFill>
            </a:endParaRPr>
          </a:p>
        </p:txBody>
      </p:sp>
      <p:sp>
        <p:nvSpPr>
          <p:cNvPr id="7" name="Shape 5"/>
          <p:cNvSpPr/>
          <p:nvPr/>
        </p:nvSpPr>
        <p:spPr>
          <a:xfrm>
            <a:off x="262890" y="932688"/>
            <a:ext cx="4160520" cy="1989416"/>
          </a:xfrm>
          <a:prstGeom prst="roundRect">
            <a:avLst>
              <a:gd name="adj" fmla="val 3279"/>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8" name="Text 6"/>
          <p:cNvSpPr/>
          <p:nvPr/>
        </p:nvSpPr>
        <p:spPr>
          <a:xfrm>
            <a:off x="365760" y="939844"/>
            <a:ext cx="3931920" cy="274320"/>
          </a:xfrm>
          <a:prstGeom prst="rect">
            <a:avLst/>
          </a:prstGeom>
          <a:noFill/>
          <a:ln/>
        </p:spPr>
        <p:txBody>
          <a:bodyPr wrap="square" lIns="0" tIns="0" rIns="0" bIns="0" rtlCol="0" anchor="ctr"/>
          <a:lstStyle/>
          <a:p>
            <a:r>
              <a:rPr lang="en-US" sz="1100" b="1" dirty="0" smtClean="0">
                <a:solidFill>
                  <a:schemeClr val="accent1">
                    <a:lumMod val="50000"/>
                  </a:schemeClr>
                </a:solidFill>
              </a:rPr>
              <a:t>Investor </a:t>
            </a:r>
            <a:r>
              <a:rPr lang="en-US" sz="1100" b="1" dirty="0">
                <a:solidFill>
                  <a:schemeClr val="accent1">
                    <a:lumMod val="50000"/>
                  </a:schemeClr>
                </a:solidFill>
              </a:rPr>
              <a:t>DNA Profile System</a:t>
            </a:r>
            <a:endParaRPr lang="en-US" sz="1100" b="1" dirty="0">
              <a:solidFill>
                <a:schemeClr val="accent1">
                  <a:lumMod val="50000"/>
                </a:schemeClr>
              </a:solidFill>
            </a:endParaRPr>
          </a:p>
        </p:txBody>
      </p:sp>
      <p:sp>
        <p:nvSpPr>
          <p:cNvPr id="9" name="Text 7"/>
          <p:cNvSpPr/>
          <p:nvPr/>
        </p:nvSpPr>
        <p:spPr>
          <a:xfrm>
            <a:off x="457200" y="1369612"/>
            <a:ext cx="3931920" cy="502920"/>
          </a:xfrm>
          <a:prstGeom prst="rect">
            <a:avLst/>
          </a:prstGeom>
          <a:noFill/>
          <a:ln/>
        </p:spPr>
        <p:txBody>
          <a:bodyPr wrap="square" lIns="0" tIns="0" rIns="0" bIns="0" rtlCol="0" anchor="ctr"/>
          <a:lstStyle/>
          <a:p>
            <a:r>
              <a:rPr lang="en-US" sz="900" dirty="0" smtClean="0">
                <a:solidFill>
                  <a:schemeClr val="tx1">
                    <a:lumMod val="75000"/>
                    <a:lumOff val="25000"/>
                  </a:schemeClr>
                </a:solidFill>
              </a:rPr>
              <a:t>A </a:t>
            </a:r>
            <a:r>
              <a:rPr lang="en-US" sz="900" dirty="0">
                <a:solidFill>
                  <a:schemeClr val="tx1">
                    <a:lumMod val="75000"/>
                    <a:lumOff val="25000"/>
                  </a:schemeClr>
                </a:solidFill>
              </a:rPr>
              <a:t>personalized investor protection mechanism that analyzes an investor's trading history, risk appetite, and investment behavior. If an investor attempts to buy a stock heavily influenced by social media hype and outside their usual investment pattern, the system generates a warning alert before the trade is executed.</a:t>
            </a:r>
            <a:endParaRPr lang="en-US" sz="900" dirty="0">
              <a:solidFill>
                <a:schemeClr val="tx1">
                  <a:lumMod val="75000"/>
                  <a:lumOff val="25000"/>
                </a:schemeClr>
              </a:solidFill>
            </a:endParaRPr>
          </a:p>
        </p:txBody>
      </p:sp>
      <p:sp>
        <p:nvSpPr>
          <p:cNvPr id="10" name="Text 8"/>
          <p:cNvSpPr/>
          <p:nvPr/>
        </p:nvSpPr>
        <p:spPr>
          <a:xfrm>
            <a:off x="388620" y="2039112"/>
            <a:ext cx="3931920" cy="256032"/>
          </a:xfrm>
          <a:prstGeom prst="rect">
            <a:avLst/>
          </a:prstGeom>
          <a:noFill/>
          <a:ln/>
        </p:spPr>
        <p:txBody>
          <a:bodyPr wrap="square" lIns="0" tIns="0" rIns="0" bIns="0" rtlCol="0" anchor="ctr"/>
          <a:lstStyle/>
          <a:p>
            <a:r>
              <a:rPr lang="en-US" sz="1000" b="1" dirty="0">
                <a:solidFill>
                  <a:schemeClr val="accent1">
                    <a:lumMod val="50000"/>
                  </a:schemeClr>
                </a:solidFill>
              </a:rPr>
              <a:t>Expected Impact:</a:t>
            </a:r>
            <a:endParaRPr lang="en-US" sz="1000" b="1" dirty="0">
              <a:solidFill>
                <a:schemeClr val="accent1">
                  <a:lumMod val="50000"/>
                </a:schemeClr>
              </a:solidFill>
            </a:endParaRPr>
          </a:p>
        </p:txBody>
      </p:sp>
      <p:sp>
        <p:nvSpPr>
          <p:cNvPr id="12" name="Text 10"/>
          <p:cNvSpPr/>
          <p:nvPr/>
        </p:nvSpPr>
        <p:spPr>
          <a:xfrm>
            <a:off x="411480" y="2807208"/>
            <a:ext cx="3886200" cy="347472"/>
          </a:xfrm>
          <a:prstGeom prst="rect">
            <a:avLst/>
          </a:prstGeom>
          <a:noFill/>
          <a:ln/>
        </p:spPr>
        <p:txBody>
          <a:bodyPr wrap="square" lIns="0" tIns="0" rIns="0" bIns="0" rtlCol="0" anchor="ctr"/>
          <a:lstStyle/>
          <a:p>
            <a:pPr marL="0" indent="0" algn="ctr">
              <a:buNone/>
            </a:pPr>
            <a:endParaRPr lang="en-US" sz="1100" dirty="0"/>
          </a:p>
        </p:txBody>
      </p:sp>
      <p:sp>
        <p:nvSpPr>
          <p:cNvPr id="15" name="Text 13"/>
          <p:cNvSpPr/>
          <p:nvPr/>
        </p:nvSpPr>
        <p:spPr>
          <a:xfrm>
            <a:off x="560070" y="2463712"/>
            <a:ext cx="3566160" cy="228600"/>
          </a:xfrm>
          <a:prstGeom prst="rect">
            <a:avLst/>
          </a:prstGeom>
          <a:noFill/>
          <a:ln/>
        </p:spPr>
        <p:txBody>
          <a:bodyPr wrap="square" lIns="0" tIns="0" rIns="0" bIns="0" rtlCol="0" anchor="ctr"/>
          <a:lstStyle/>
          <a:p>
            <a:r>
              <a:rPr lang="en-US" sz="900" dirty="0">
                <a:solidFill>
                  <a:schemeClr val="tx1">
                    <a:lumMod val="75000"/>
                    <a:lumOff val="25000"/>
                  </a:schemeClr>
                </a:solidFill>
              </a:rPr>
              <a:t>Reduces impulsive investment </a:t>
            </a:r>
            <a:r>
              <a:rPr lang="en-US" sz="900" dirty="0" smtClean="0">
                <a:solidFill>
                  <a:schemeClr val="tx1">
                    <a:lumMod val="75000"/>
                    <a:lumOff val="25000"/>
                  </a:schemeClr>
                </a:solidFill>
              </a:rPr>
              <a:t>decisions</a:t>
            </a:r>
          </a:p>
          <a:p>
            <a:r>
              <a:rPr lang="en-US" sz="900" dirty="0" smtClean="0">
                <a:solidFill>
                  <a:schemeClr val="tx1">
                    <a:lumMod val="75000"/>
                    <a:lumOff val="25000"/>
                  </a:schemeClr>
                </a:solidFill>
              </a:rPr>
              <a:t>Protects </a:t>
            </a:r>
            <a:r>
              <a:rPr lang="en-US" sz="900" dirty="0">
                <a:solidFill>
                  <a:schemeClr val="tx1">
                    <a:lumMod val="75000"/>
                    <a:lumOff val="25000"/>
                  </a:schemeClr>
                </a:solidFill>
              </a:rPr>
              <a:t>retail investors from pump-and-dump schemes</a:t>
            </a:r>
            <a:r>
              <a:rPr lang="en-US" sz="900" dirty="0" smtClean="0">
                <a:solidFill>
                  <a:schemeClr val="tx1">
                    <a:lumMod val="75000"/>
                    <a:lumOff val="25000"/>
                  </a:schemeClr>
                </a:solidFill>
              </a:rPr>
              <a:t>.</a:t>
            </a:r>
          </a:p>
          <a:p>
            <a:r>
              <a:rPr lang="en-US" sz="900" dirty="0">
                <a:solidFill>
                  <a:schemeClr val="tx1">
                    <a:lumMod val="75000"/>
                    <a:lumOff val="25000"/>
                  </a:schemeClr>
                </a:solidFill>
              </a:rPr>
              <a:t>Promotes informed and responsible investing.</a:t>
            </a:r>
            <a:endParaRPr lang="en-US" sz="900" dirty="0" smtClean="0">
              <a:solidFill>
                <a:schemeClr val="tx1">
                  <a:lumMod val="75000"/>
                  <a:lumOff val="25000"/>
                </a:schemeClr>
              </a:solidFill>
            </a:endParaRPr>
          </a:p>
          <a:p>
            <a:r>
              <a:rPr lang="en-US" sz="900" dirty="0" smtClean="0">
                <a:solidFill>
                  <a:schemeClr val="tx1">
                    <a:lumMod val="75000"/>
                    <a:lumOff val="25000"/>
                  </a:schemeClr>
                </a:solidFill>
              </a:rPr>
              <a:t>.</a:t>
            </a:r>
            <a:endParaRPr lang="en-US" sz="900" dirty="0">
              <a:solidFill>
                <a:schemeClr val="tx1">
                  <a:lumMod val="75000"/>
                  <a:lumOff val="25000"/>
                </a:schemeClr>
              </a:solidFill>
            </a:endParaRPr>
          </a:p>
        </p:txBody>
      </p:sp>
      <p:sp>
        <p:nvSpPr>
          <p:cNvPr id="17" name="Text 15"/>
          <p:cNvSpPr/>
          <p:nvPr/>
        </p:nvSpPr>
        <p:spPr>
          <a:xfrm>
            <a:off x="571500" y="2427136"/>
            <a:ext cx="3566160" cy="228600"/>
          </a:xfrm>
          <a:prstGeom prst="rect">
            <a:avLst/>
          </a:prstGeom>
          <a:noFill/>
          <a:ln/>
        </p:spPr>
        <p:txBody>
          <a:bodyPr wrap="square" lIns="0" tIns="0" rIns="0" bIns="0" rtlCol="0" anchor="ctr"/>
          <a:lstStyle/>
          <a:p>
            <a:pPr marL="0" indent="0">
              <a:buNone/>
            </a:pPr>
            <a:endParaRPr lang="en-US" sz="950" dirty="0"/>
          </a:p>
        </p:txBody>
      </p:sp>
      <p:sp>
        <p:nvSpPr>
          <p:cNvPr id="19" name="Text 17"/>
          <p:cNvSpPr/>
          <p:nvPr/>
        </p:nvSpPr>
        <p:spPr>
          <a:xfrm>
            <a:off x="560070" y="2608028"/>
            <a:ext cx="3566160" cy="228600"/>
          </a:xfrm>
          <a:prstGeom prst="rect">
            <a:avLst/>
          </a:prstGeom>
          <a:noFill/>
          <a:ln/>
        </p:spPr>
        <p:txBody>
          <a:bodyPr wrap="square" lIns="0" tIns="0" rIns="0" bIns="0" rtlCol="0" anchor="ctr"/>
          <a:lstStyle/>
          <a:p>
            <a:pPr marL="0" indent="0">
              <a:buNone/>
            </a:pPr>
            <a:endParaRPr lang="en-US" sz="950" dirty="0"/>
          </a:p>
        </p:txBody>
      </p:sp>
      <p:sp>
        <p:nvSpPr>
          <p:cNvPr id="20" name="Shape 18"/>
          <p:cNvSpPr/>
          <p:nvPr/>
        </p:nvSpPr>
        <p:spPr>
          <a:xfrm>
            <a:off x="4709160" y="1408176"/>
            <a:ext cx="4160520" cy="3163824"/>
          </a:xfrm>
          <a:prstGeom prst="roundRect">
            <a:avLst>
              <a:gd name="adj" fmla="val 3279"/>
            </a:avLst>
          </a:prstGeom>
          <a:solidFill>
            <a:srgbClr val="FFFFFF"/>
          </a:solidFill>
          <a:ln w="12700">
            <a:solidFill>
              <a:srgbClr val="E2E8F0"/>
            </a:solidFill>
            <a:prstDash val="solid"/>
          </a:ln>
          <a:effectLst>
            <a:outerShdw blurRad="63500" dist="25400" dir="2700000" algn="bl" rotWithShape="0">
              <a:srgbClr val="000000">
                <a:alpha val="8000"/>
              </a:srgbClr>
            </a:outerShdw>
          </a:effectLst>
        </p:spPr>
      </p:sp>
      <p:sp>
        <p:nvSpPr>
          <p:cNvPr id="21" name="Text 19"/>
          <p:cNvSpPr/>
          <p:nvPr/>
        </p:nvSpPr>
        <p:spPr>
          <a:xfrm>
            <a:off x="4846320" y="1673352"/>
            <a:ext cx="3840480" cy="274320"/>
          </a:xfrm>
          <a:prstGeom prst="rect">
            <a:avLst/>
          </a:prstGeom>
          <a:noFill/>
          <a:ln/>
        </p:spPr>
        <p:txBody>
          <a:bodyPr wrap="square" lIns="0" tIns="0" rIns="0" bIns="0" rtlCol="0" anchor="ctr"/>
          <a:lstStyle/>
          <a:p>
            <a:r>
              <a:rPr lang="en-US" sz="1100" b="1" dirty="0">
                <a:solidFill>
                  <a:schemeClr val="accent1">
                    <a:lumMod val="50000"/>
                  </a:schemeClr>
                </a:solidFill>
              </a:rPr>
              <a:t>Benefits of Proposed Solutions</a:t>
            </a:r>
            <a:endParaRPr lang="en-US" sz="1100" b="1" dirty="0">
              <a:solidFill>
                <a:schemeClr val="accent1">
                  <a:lumMod val="50000"/>
                </a:schemeClr>
              </a:solidFill>
            </a:endParaRPr>
          </a:p>
        </p:txBody>
      </p:sp>
      <p:sp>
        <p:nvSpPr>
          <p:cNvPr id="22" name="Shape 20"/>
          <p:cNvSpPr/>
          <p:nvPr/>
        </p:nvSpPr>
        <p:spPr>
          <a:xfrm>
            <a:off x="4846320" y="2029968"/>
            <a:ext cx="3840480" cy="475488"/>
          </a:xfrm>
          <a:prstGeom prst="roundRect">
            <a:avLst>
              <a:gd name="adj" fmla="val 13462"/>
            </a:avLst>
          </a:prstGeom>
          <a:solidFill>
            <a:srgbClr val="F4F6FB"/>
          </a:solidFill>
          <a:ln w="12700">
            <a:solidFill>
              <a:srgbClr val="E2E8F0"/>
            </a:solidFill>
            <a:prstDash val="solid"/>
          </a:ln>
        </p:spPr>
      </p:sp>
      <p:sp>
        <p:nvSpPr>
          <p:cNvPr id="23" name="Text 21"/>
          <p:cNvSpPr/>
          <p:nvPr/>
        </p:nvSpPr>
        <p:spPr>
          <a:xfrm>
            <a:off x="4956048" y="2057400"/>
            <a:ext cx="3657600" cy="201168"/>
          </a:xfrm>
          <a:prstGeom prst="rect">
            <a:avLst/>
          </a:prstGeom>
          <a:noFill/>
          <a:ln/>
        </p:spPr>
        <p:txBody>
          <a:bodyPr wrap="square" lIns="0" tIns="0" rIns="0" bIns="0" rtlCol="0" anchor="ctr"/>
          <a:lstStyle/>
          <a:p>
            <a:r>
              <a:rPr lang="en-US" sz="950" b="1" dirty="0" smtClean="0">
                <a:solidFill>
                  <a:schemeClr val="accent1">
                    <a:lumMod val="50000"/>
                  </a:schemeClr>
                </a:solidFill>
              </a:rPr>
              <a:t>Investor </a:t>
            </a:r>
            <a:r>
              <a:rPr lang="en-US" sz="950" b="1" dirty="0">
                <a:solidFill>
                  <a:schemeClr val="accent1">
                    <a:lumMod val="50000"/>
                  </a:schemeClr>
                </a:solidFill>
              </a:rPr>
              <a:t>Protection</a:t>
            </a:r>
            <a:endParaRPr lang="en-US" sz="950" dirty="0">
              <a:solidFill>
                <a:schemeClr val="accent1">
                  <a:lumMod val="50000"/>
                </a:schemeClr>
              </a:solidFill>
            </a:endParaRPr>
          </a:p>
        </p:txBody>
      </p:sp>
      <p:sp>
        <p:nvSpPr>
          <p:cNvPr id="24" name="Text 22"/>
          <p:cNvSpPr/>
          <p:nvPr/>
        </p:nvSpPr>
        <p:spPr>
          <a:xfrm>
            <a:off x="4956048" y="2258568"/>
            <a:ext cx="3657600" cy="201168"/>
          </a:xfrm>
          <a:prstGeom prst="rect">
            <a:avLst/>
          </a:prstGeom>
          <a:noFill/>
          <a:ln/>
        </p:spPr>
        <p:txBody>
          <a:bodyPr wrap="square" lIns="0" tIns="0" rIns="0" bIns="0" rtlCol="0" anchor="ctr"/>
          <a:lstStyle/>
          <a:p>
            <a:r>
              <a:rPr lang="en-US" sz="850" dirty="0">
                <a:solidFill>
                  <a:schemeClr val="tx1">
                    <a:lumMod val="65000"/>
                    <a:lumOff val="35000"/>
                  </a:schemeClr>
                </a:solidFill>
              </a:rPr>
              <a:t>Reduces impulsive and emotion-driven trading.</a:t>
            </a:r>
            <a:endParaRPr lang="en-US" sz="850" dirty="0">
              <a:solidFill>
                <a:schemeClr val="tx1">
                  <a:lumMod val="65000"/>
                  <a:lumOff val="35000"/>
                </a:schemeClr>
              </a:solidFill>
            </a:endParaRPr>
          </a:p>
        </p:txBody>
      </p:sp>
      <p:sp>
        <p:nvSpPr>
          <p:cNvPr id="25" name="Shape 23"/>
          <p:cNvSpPr/>
          <p:nvPr/>
        </p:nvSpPr>
        <p:spPr>
          <a:xfrm>
            <a:off x="4846320" y="2587752"/>
            <a:ext cx="3840480" cy="475488"/>
          </a:xfrm>
          <a:prstGeom prst="roundRect">
            <a:avLst>
              <a:gd name="adj" fmla="val 13462"/>
            </a:avLst>
          </a:prstGeom>
          <a:solidFill>
            <a:srgbClr val="F4F6FB"/>
          </a:solidFill>
          <a:ln w="12700">
            <a:solidFill>
              <a:srgbClr val="E2E8F0"/>
            </a:solidFill>
            <a:prstDash val="solid"/>
          </a:ln>
        </p:spPr>
      </p:sp>
      <p:sp>
        <p:nvSpPr>
          <p:cNvPr id="26" name="Text 24"/>
          <p:cNvSpPr/>
          <p:nvPr/>
        </p:nvSpPr>
        <p:spPr>
          <a:xfrm>
            <a:off x="4956048" y="2615184"/>
            <a:ext cx="3657600" cy="201168"/>
          </a:xfrm>
          <a:prstGeom prst="rect">
            <a:avLst/>
          </a:prstGeom>
          <a:noFill/>
          <a:ln/>
        </p:spPr>
        <p:txBody>
          <a:bodyPr wrap="square" lIns="0" tIns="0" rIns="0" bIns="0" rtlCol="0" anchor="ctr"/>
          <a:lstStyle/>
          <a:p>
            <a:r>
              <a:rPr lang="en-US" sz="950" b="1" dirty="0">
                <a:solidFill>
                  <a:schemeClr val="accent1">
                    <a:lumMod val="50000"/>
                  </a:schemeClr>
                </a:solidFill>
              </a:rPr>
              <a:t>Early Fraud Detection</a:t>
            </a:r>
            <a:endParaRPr lang="en-US" sz="950" dirty="0">
              <a:solidFill>
                <a:schemeClr val="accent1">
                  <a:lumMod val="50000"/>
                </a:schemeClr>
              </a:solidFill>
            </a:endParaRPr>
          </a:p>
        </p:txBody>
      </p:sp>
      <p:sp>
        <p:nvSpPr>
          <p:cNvPr id="27" name="Text 25"/>
          <p:cNvSpPr/>
          <p:nvPr/>
        </p:nvSpPr>
        <p:spPr>
          <a:xfrm>
            <a:off x="4956048" y="2816352"/>
            <a:ext cx="3657600" cy="201168"/>
          </a:xfrm>
          <a:prstGeom prst="rect">
            <a:avLst/>
          </a:prstGeom>
          <a:noFill/>
          <a:ln/>
        </p:spPr>
        <p:txBody>
          <a:bodyPr wrap="square" lIns="0" tIns="0" rIns="0" bIns="0" rtlCol="0" anchor="ctr"/>
          <a:lstStyle/>
          <a:p>
            <a:r>
              <a:rPr lang="en-US" sz="850" dirty="0">
                <a:solidFill>
                  <a:schemeClr val="tx1">
                    <a:lumMod val="65000"/>
                    <a:lumOff val="35000"/>
                  </a:schemeClr>
                </a:solidFill>
              </a:rPr>
              <a:t>Identifies manipulation before major losses occur.</a:t>
            </a:r>
            <a:endParaRPr lang="en-US" sz="850" dirty="0">
              <a:solidFill>
                <a:schemeClr val="tx1">
                  <a:lumMod val="65000"/>
                  <a:lumOff val="35000"/>
                </a:schemeClr>
              </a:solidFill>
            </a:endParaRPr>
          </a:p>
        </p:txBody>
      </p:sp>
      <p:sp>
        <p:nvSpPr>
          <p:cNvPr id="28" name="Shape 26"/>
          <p:cNvSpPr/>
          <p:nvPr/>
        </p:nvSpPr>
        <p:spPr>
          <a:xfrm>
            <a:off x="4846320" y="3145536"/>
            <a:ext cx="3840480" cy="475488"/>
          </a:xfrm>
          <a:prstGeom prst="roundRect">
            <a:avLst>
              <a:gd name="adj" fmla="val 13462"/>
            </a:avLst>
          </a:prstGeom>
          <a:solidFill>
            <a:srgbClr val="F4F6FB"/>
          </a:solidFill>
          <a:ln w="12700">
            <a:solidFill>
              <a:srgbClr val="E2E8F0"/>
            </a:solidFill>
            <a:prstDash val="solid"/>
          </a:ln>
        </p:spPr>
      </p:sp>
      <p:sp>
        <p:nvSpPr>
          <p:cNvPr id="29" name="Text 27"/>
          <p:cNvSpPr/>
          <p:nvPr/>
        </p:nvSpPr>
        <p:spPr>
          <a:xfrm>
            <a:off x="4956048" y="3172968"/>
            <a:ext cx="3657600" cy="201168"/>
          </a:xfrm>
          <a:prstGeom prst="rect">
            <a:avLst/>
          </a:prstGeom>
          <a:noFill/>
          <a:ln/>
        </p:spPr>
        <p:txBody>
          <a:bodyPr wrap="square" lIns="0" tIns="0" rIns="0" bIns="0" rtlCol="0" anchor="ctr"/>
          <a:lstStyle/>
          <a:p>
            <a:r>
              <a:rPr lang="en-US" sz="950" b="1" dirty="0">
                <a:solidFill>
                  <a:schemeClr val="accent1">
                    <a:lumMod val="50000"/>
                  </a:schemeClr>
                </a:solidFill>
              </a:rPr>
              <a:t>Market Transparency</a:t>
            </a:r>
            <a:endParaRPr lang="en-US" sz="950" b="1" dirty="0">
              <a:solidFill>
                <a:schemeClr val="accent1">
                  <a:lumMod val="50000"/>
                </a:schemeClr>
              </a:solidFill>
            </a:endParaRPr>
          </a:p>
        </p:txBody>
      </p:sp>
      <p:sp>
        <p:nvSpPr>
          <p:cNvPr id="30" name="Text 28"/>
          <p:cNvSpPr/>
          <p:nvPr/>
        </p:nvSpPr>
        <p:spPr>
          <a:xfrm>
            <a:off x="4956048" y="3374136"/>
            <a:ext cx="3657600" cy="201168"/>
          </a:xfrm>
          <a:prstGeom prst="rect">
            <a:avLst/>
          </a:prstGeom>
          <a:noFill/>
          <a:ln/>
        </p:spPr>
        <p:txBody>
          <a:bodyPr wrap="square" lIns="0" tIns="0" rIns="0" bIns="0" rtlCol="0" anchor="ctr"/>
          <a:lstStyle/>
          <a:p>
            <a:r>
              <a:rPr lang="en-US" sz="850" dirty="0">
                <a:solidFill>
                  <a:schemeClr val="tx1">
                    <a:lumMod val="65000"/>
                    <a:lumOff val="35000"/>
                  </a:schemeClr>
                </a:solidFill>
              </a:rPr>
              <a:t>Improves trust and information quality.</a:t>
            </a:r>
            <a:endParaRPr lang="en-US" sz="850" dirty="0">
              <a:solidFill>
                <a:schemeClr val="tx1">
                  <a:lumMod val="65000"/>
                  <a:lumOff val="35000"/>
                </a:schemeClr>
              </a:solidFill>
            </a:endParaRPr>
          </a:p>
        </p:txBody>
      </p:sp>
      <p:sp>
        <p:nvSpPr>
          <p:cNvPr id="31" name="Shape 29"/>
          <p:cNvSpPr/>
          <p:nvPr/>
        </p:nvSpPr>
        <p:spPr>
          <a:xfrm>
            <a:off x="4846320" y="3703320"/>
            <a:ext cx="3840480" cy="475488"/>
          </a:xfrm>
          <a:prstGeom prst="roundRect">
            <a:avLst>
              <a:gd name="adj" fmla="val 13462"/>
            </a:avLst>
          </a:prstGeom>
          <a:solidFill>
            <a:srgbClr val="F4F6FB"/>
          </a:solidFill>
          <a:ln w="12700">
            <a:solidFill>
              <a:srgbClr val="E2E8F0"/>
            </a:solidFill>
            <a:prstDash val="solid"/>
          </a:ln>
        </p:spPr>
      </p:sp>
      <p:sp>
        <p:nvSpPr>
          <p:cNvPr id="32" name="Text 30"/>
          <p:cNvSpPr/>
          <p:nvPr/>
        </p:nvSpPr>
        <p:spPr>
          <a:xfrm>
            <a:off x="4956048" y="3730752"/>
            <a:ext cx="3657600" cy="201168"/>
          </a:xfrm>
          <a:prstGeom prst="rect">
            <a:avLst/>
          </a:prstGeom>
          <a:noFill/>
          <a:ln/>
        </p:spPr>
        <p:txBody>
          <a:bodyPr wrap="square" lIns="0" tIns="0" rIns="0" bIns="0" rtlCol="0" anchor="ctr"/>
          <a:lstStyle/>
          <a:p>
            <a:r>
              <a:rPr lang="en-US" sz="950" b="1" dirty="0">
                <a:solidFill>
                  <a:schemeClr val="accent1">
                    <a:lumMod val="50000"/>
                  </a:schemeClr>
                </a:solidFill>
              </a:rPr>
              <a:t>Market Stability</a:t>
            </a:r>
            <a:endParaRPr lang="en-US" sz="950" dirty="0">
              <a:solidFill>
                <a:schemeClr val="accent1">
                  <a:lumMod val="50000"/>
                </a:schemeClr>
              </a:solidFill>
            </a:endParaRPr>
          </a:p>
        </p:txBody>
      </p:sp>
      <p:sp>
        <p:nvSpPr>
          <p:cNvPr id="33" name="Text 31"/>
          <p:cNvSpPr/>
          <p:nvPr/>
        </p:nvSpPr>
        <p:spPr>
          <a:xfrm>
            <a:off x="4956048" y="3931920"/>
            <a:ext cx="3657600" cy="201168"/>
          </a:xfrm>
          <a:prstGeom prst="rect">
            <a:avLst/>
          </a:prstGeom>
          <a:noFill/>
          <a:ln/>
        </p:spPr>
        <p:txBody>
          <a:bodyPr wrap="square" lIns="0" tIns="0" rIns="0" bIns="0" rtlCol="0" anchor="ctr"/>
          <a:lstStyle/>
          <a:p>
            <a:r>
              <a:rPr lang="en-US" sz="850" dirty="0">
                <a:solidFill>
                  <a:schemeClr val="tx1">
                    <a:lumMod val="65000"/>
                    <a:lumOff val="35000"/>
                  </a:schemeClr>
                </a:solidFill>
              </a:rPr>
              <a:t>Reduces artificial price inflation.</a:t>
            </a:r>
            <a:endParaRPr lang="en-US" sz="850" dirty="0">
              <a:solidFill>
                <a:schemeClr val="tx1">
                  <a:lumMod val="65000"/>
                  <a:lumOff val="35000"/>
                </a:schemeClr>
              </a:solidFill>
            </a:endParaRPr>
          </a:p>
        </p:txBody>
      </p:sp>
      <p:sp>
        <p:nvSpPr>
          <p:cNvPr id="36" name="Shape 5"/>
          <p:cNvSpPr/>
          <p:nvPr/>
        </p:nvSpPr>
        <p:spPr>
          <a:xfrm>
            <a:off x="262890" y="3043759"/>
            <a:ext cx="4160520" cy="1989416"/>
          </a:xfrm>
          <a:prstGeom prst="roundRect">
            <a:avLst>
              <a:gd name="adj" fmla="val 3279"/>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37" name="Text 6"/>
          <p:cNvSpPr/>
          <p:nvPr/>
        </p:nvSpPr>
        <p:spPr>
          <a:xfrm>
            <a:off x="377190" y="3139175"/>
            <a:ext cx="3931920" cy="274320"/>
          </a:xfrm>
          <a:prstGeom prst="rect">
            <a:avLst/>
          </a:prstGeom>
          <a:noFill/>
          <a:ln/>
        </p:spPr>
        <p:txBody>
          <a:bodyPr wrap="square" lIns="0" tIns="0" rIns="0" bIns="0" rtlCol="0" anchor="ctr"/>
          <a:lstStyle/>
          <a:p>
            <a:r>
              <a:rPr lang="en-US" sz="1100" b="1" dirty="0" smtClean="0">
                <a:solidFill>
                  <a:schemeClr val="accent1">
                    <a:lumMod val="50000"/>
                  </a:schemeClr>
                </a:solidFill>
              </a:rPr>
              <a:t>Viral </a:t>
            </a:r>
            <a:r>
              <a:rPr lang="en-US" sz="1100" b="1" dirty="0">
                <a:solidFill>
                  <a:schemeClr val="accent1">
                    <a:lumMod val="50000"/>
                  </a:schemeClr>
                </a:solidFill>
              </a:rPr>
              <a:t>Stock Circuit </a:t>
            </a:r>
            <a:r>
              <a:rPr lang="en-US" sz="1100" b="1" dirty="0" smtClean="0">
                <a:solidFill>
                  <a:schemeClr val="accent1">
                    <a:lumMod val="50000"/>
                  </a:schemeClr>
                </a:solidFill>
              </a:rPr>
              <a:t>Breaker</a:t>
            </a:r>
            <a:endParaRPr lang="en-US" sz="1100" b="1" dirty="0">
              <a:solidFill>
                <a:schemeClr val="accent1">
                  <a:lumMod val="50000"/>
                </a:schemeClr>
              </a:solidFill>
            </a:endParaRPr>
          </a:p>
        </p:txBody>
      </p:sp>
      <p:sp>
        <p:nvSpPr>
          <p:cNvPr id="38" name="Text 7"/>
          <p:cNvSpPr/>
          <p:nvPr/>
        </p:nvSpPr>
        <p:spPr>
          <a:xfrm>
            <a:off x="457200" y="3520638"/>
            <a:ext cx="3931920" cy="502920"/>
          </a:xfrm>
          <a:prstGeom prst="rect">
            <a:avLst/>
          </a:prstGeom>
          <a:noFill/>
          <a:ln/>
        </p:spPr>
        <p:txBody>
          <a:bodyPr wrap="square" lIns="0" tIns="0" rIns="0" bIns="0" rtlCol="0" anchor="ctr"/>
          <a:lstStyle/>
          <a:p>
            <a:r>
              <a:rPr lang="en-US" sz="900" dirty="0">
                <a:solidFill>
                  <a:schemeClr val="tx1">
                    <a:lumMod val="75000"/>
                    <a:lumOff val="25000"/>
                  </a:schemeClr>
                </a:solidFill>
              </a:rPr>
              <a:t>A market surveillance mechanism that temporarily flags or pauses trading in stocks experiencing unusual social media </a:t>
            </a:r>
            <a:r>
              <a:rPr lang="en-US" sz="900" dirty="0" smtClean="0">
                <a:solidFill>
                  <a:schemeClr val="tx1">
                    <a:lumMod val="75000"/>
                    <a:lumOff val="25000"/>
                  </a:schemeClr>
                </a:solidFill>
              </a:rPr>
              <a:t>virility. </a:t>
            </a:r>
            <a:r>
              <a:rPr lang="en-US" sz="900" dirty="0">
                <a:solidFill>
                  <a:schemeClr val="tx1">
                    <a:lumMod val="75000"/>
                    <a:lumOff val="25000"/>
                  </a:schemeClr>
                </a:solidFill>
              </a:rPr>
              <a:t>The system monitors abnormal spikes in mentions, shares, comments, and online engagement, in addition to traditional price and volume indicators.</a:t>
            </a:r>
            <a:endParaRPr lang="en-US" sz="900" dirty="0">
              <a:solidFill>
                <a:schemeClr val="tx1">
                  <a:lumMod val="75000"/>
                  <a:lumOff val="25000"/>
                </a:schemeClr>
              </a:solidFill>
            </a:endParaRPr>
          </a:p>
        </p:txBody>
      </p:sp>
      <p:sp>
        <p:nvSpPr>
          <p:cNvPr id="39" name="Text 8"/>
          <p:cNvSpPr/>
          <p:nvPr/>
        </p:nvSpPr>
        <p:spPr>
          <a:xfrm>
            <a:off x="388620" y="4165191"/>
            <a:ext cx="3931920" cy="256032"/>
          </a:xfrm>
          <a:prstGeom prst="rect">
            <a:avLst/>
          </a:prstGeom>
          <a:noFill/>
          <a:ln/>
        </p:spPr>
        <p:txBody>
          <a:bodyPr wrap="square" lIns="0" tIns="0" rIns="0" bIns="0" rtlCol="0" anchor="ctr"/>
          <a:lstStyle/>
          <a:p>
            <a:r>
              <a:rPr lang="en-US" sz="1000" b="1" dirty="0">
                <a:solidFill>
                  <a:schemeClr val="accent1">
                    <a:lumMod val="50000"/>
                  </a:schemeClr>
                </a:solidFill>
              </a:rPr>
              <a:t>Expected Impact:</a:t>
            </a:r>
            <a:endParaRPr lang="en-US" sz="1000" b="1" dirty="0">
              <a:solidFill>
                <a:schemeClr val="accent1">
                  <a:lumMod val="50000"/>
                </a:schemeClr>
              </a:solidFill>
            </a:endParaRPr>
          </a:p>
        </p:txBody>
      </p:sp>
      <p:sp>
        <p:nvSpPr>
          <p:cNvPr id="40" name="Text 13"/>
          <p:cNvSpPr/>
          <p:nvPr/>
        </p:nvSpPr>
        <p:spPr>
          <a:xfrm>
            <a:off x="560070" y="4612899"/>
            <a:ext cx="3566160" cy="228600"/>
          </a:xfrm>
          <a:prstGeom prst="rect">
            <a:avLst/>
          </a:prstGeom>
          <a:noFill/>
          <a:ln/>
        </p:spPr>
        <p:txBody>
          <a:bodyPr wrap="square" lIns="0" tIns="0" rIns="0" bIns="0" rtlCol="0" anchor="ctr"/>
          <a:lstStyle/>
          <a:p>
            <a:r>
              <a:rPr lang="en-US" sz="900" dirty="0">
                <a:solidFill>
                  <a:schemeClr val="tx1">
                    <a:lumMod val="75000"/>
                    <a:lumOff val="25000"/>
                  </a:schemeClr>
                </a:solidFill>
              </a:rPr>
              <a:t>Enables early detection of market manipulation</a:t>
            </a:r>
            <a:r>
              <a:rPr lang="en-US" sz="900" dirty="0" smtClean="0">
                <a:solidFill>
                  <a:schemeClr val="tx1">
                    <a:lumMod val="75000"/>
                    <a:lumOff val="25000"/>
                  </a:schemeClr>
                </a:solidFill>
              </a:rPr>
              <a:t>.</a:t>
            </a:r>
          </a:p>
          <a:p>
            <a:r>
              <a:rPr lang="en-US" sz="900" dirty="0">
                <a:solidFill>
                  <a:schemeClr val="tx1">
                    <a:lumMod val="75000"/>
                    <a:lumOff val="25000"/>
                  </a:schemeClr>
                </a:solidFill>
              </a:rPr>
              <a:t>Prevents artificial demand created through coordinated social media campaigns</a:t>
            </a:r>
            <a:r>
              <a:rPr lang="en-US" sz="900" dirty="0" smtClean="0">
                <a:solidFill>
                  <a:schemeClr val="tx1">
                    <a:lumMod val="75000"/>
                    <a:lumOff val="25000"/>
                  </a:schemeClr>
                </a:solidFill>
              </a:rPr>
              <a:t>.</a:t>
            </a:r>
          </a:p>
          <a:p>
            <a:r>
              <a:rPr lang="en-US" sz="900" dirty="0">
                <a:solidFill>
                  <a:schemeClr val="tx1">
                    <a:lumMod val="75000"/>
                    <a:lumOff val="25000"/>
                  </a:schemeClr>
                </a:solidFill>
              </a:rPr>
              <a:t>Improves market transparency and investor confidence.</a:t>
            </a:r>
            <a:endParaRPr lang="en-US" sz="900" dirty="0" smtClean="0">
              <a:solidFill>
                <a:schemeClr val="tx1">
                  <a:lumMod val="75000"/>
                  <a:lumOff val="25000"/>
                </a:schemeClr>
              </a:solidFill>
            </a:endParaRPr>
          </a:p>
          <a:p>
            <a:endParaRPr lang="en-US" sz="900" dirty="0">
              <a:solidFill>
                <a:schemeClr val="tx1">
                  <a:lumMod val="75000"/>
                  <a:lumOff val="25000"/>
                </a:schemeClr>
              </a:solidFill>
            </a:endParaRPr>
          </a:p>
        </p:txBody>
      </p:sp>
    </p:spTree>
    <p:extLst>
      <p:ext uri="{BB962C8B-B14F-4D97-AF65-F5344CB8AC3E}">
        <p14:creationId xmlns:p14="http://schemas.microsoft.com/office/powerpoint/2010/main" val="1136817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365760" y="73152"/>
            <a:ext cx="8412480" cy="45720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Challenges, Recommendations &amp; Conclusion</a:t>
            </a:r>
            <a:endParaRPr lang="en-US" sz="1900" dirty="0"/>
          </a:p>
        </p:txBody>
      </p:sp>
      <p:sp>
        <p:nvSpPr>
          <p:cNvPr id="4" name="Text 2"/>
          <p:cNvSpPr/>
          <p:nvPr/>
        </p:nvSpPr>
        <p:spPr>
          <a:xfrm>
            <a:off x="365760" y="512064"/>
            <a:ext cx="8412480" cy="256032"/>
          </a:xfrm>
          <a:prstGeom prst="rect">
            <a:avLst/>
          </a:prstGeom>
          <a:noFill/>
          <a:ln/>
        </p:spPr>
        <p:txBody>
          <a:bodyPr wrap="square" lIns="0" tIns="0" rIns="0" bIns="0" rtlCol="0" anchor="ctr"/>
          <a:lstStyle/>
          <a:p>
            <a:pPr marL="0" indent="0">
              <a:buNone/>
            </a:pPr>
            <a:endParaRPr lang="en-US" sz="1000" dirty="0"/>
          </a:p>
        </p:txBody>
      </p:sp>
      <p:sp>
        <p:nvSpPr>
          <p:cNvPr id="5" name="Shape 3"/>
          <p:cNvSpPr/>
          <p:nvPr/>
        </p:nvSpPr>
        <p:spPr>
          <a:xfrm>
            <a:off x="274320" y="868680"/>
            <a:ext cx="2560320" cy="2240280"/>
          </a:xfrm>
          <a:prstGeom prst="roundRect">
            <a:avLst>
              <a:gd name="adj" fmla="val 408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6" name="Shape 4"/>
          <p:cNvSpPr/>
          <p:nvPr/>
        </p:nvSpPr>
        <p:spPr>
          <a:xfrm>
            <a:off x="274320" y="868680"/>
            <a:ext cx="2560320" cy="347472"/>
          </a:xfrm>
          <a:prstGeom prst="roundRect">
            <a:avLst>
              <a:gd name="adj" fmla="val 21053"/>
            </a:avLst>
          </a:prstGeom>
          <a:solidFill>
            <a:schemeClr val="accent1">
              <a:lumMod val="50000"/>
            </a:schemeClr>
          </a:solidFill>
          <a:ln w="12700">
            <a:solidFill>
              <a:schemeClr val="bg1">
                <a:lumMod val="85000"/>
              </a:schemeClr>
            </a:solidFill>
            <a:prstDash val="solid"/>
          </a:ln>
        </p:spPr>
      </p:sp>
      <p:sp>
        <p:nvSpPr>
          <p:cNvPr id="7" name="Text 5"/>
          <p:cNvSpPr/>
          <p:nvPr/>
        </p:nvSpPr>
        <p:spPr>
          <a:xfrm>
            <a:off x="274320" y="868680"/>
            <a:ext cx="256032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Key Challenges</a:t>
            </a:r>
            <a:endParaRPr lang="en-US" sz="1050" dirty="0"/>
          </a:p>
        </p:txBody>
      </p:sp>
      <p:sp>
        <p:nvSpPr>
          <p:cNvPr id="9" name="Text 7"/>
          <p:cNvSpPr/>
          <p:nvPr/>
        </p:nvSpPr>
        <p:spPr>
          <a:xfrm>
            <a:off x="566928" y="1261872"/>
            <a:ext cx="219456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Anonymous Telegram operators</a:t>
            </a:r>
            <a:endParaRPr lang="en-US" sz="900" dirty="0"/>
          </a:p>
        </p:txBody>
      </p:sp>
      <p:sp>
        <p:nvSpPr>
          <p:cNvPr id="11" name="Text 9"/>
          <p:cNvSpPr/>
          <p:nvPr/>
        </p:nvSpPr>
        <p:spPr>
          <a:xfrm>
            <a:off x="566928" y="1655064"/>
            <a:ext cx="219456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Encrypted communication platforms</a:t>
            </a:r>
            <a:endParaRPr lang="en-US" sz="900" dirty="0"/>
          </a:p>
        </p:txBody>
      </p:sp>
      <p:sp>
        <p:nvSpPr>
          <p:cNvPr id="13" name="Text 11"/>
          <p:cNvSpPr/>
          <p:nvPr/>
        </p:nvSpPr>
        <p:spPr>
          <a:xfrm>
            <a:off x="566928" y="2048256"/>
            <a:ext cx="219456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Cross-border server locations</a:t>
            </a:r>
            <a:endParaRPr lang="en-US" sz="900" dirty="0"/>
          </a:p>
        </p:txBody>
      </p:sp>
      <p:sp>
        <p:nvSpPr>
          <p:cNvPr id="15" name="Text 13"/>
          <p:cNvSpPr/>
          <p:nvPr/>
        </p:nvSpPr>
        <p:spPr>
          <a:xfrm>
            <a:off x="566928" y="2441448"/>
            <a:ext cx="219456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Delays in obtaining digital evidence</a:t>
            </a:r>
            <a:endParaRPr lang="en-US" sz="900" dirty="0"/>
          </a:p>
        </p:txBody>
      </p:sp>
      <p:sp>
        <p:nvSpPr>
          <p:cNvPr id="16" name="Shape 14"/>
          <p:cNvSpPr/>
          <p:nvPr/>
        </p:nvSpPr>
        <p:spPr>
          <a:xfrm>
            <a:off x="3063240" y="868680"/>
            <a:ext cx="2926080" cy="2240280"/>
          </a:xfrm>
          <a:prstGeom prst="roundRect">
            <a:avLst>
              <a:gd name="adj" fmla="val 408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17" name="Shape 15"/>
          <p:cNvSpPr/>
          <p:nvPr/>
        </p:nvSpPr>
        <p:spPr>
          <a:xfrm>
            <a:off x="3063240" y="868680"/>
            <a:ext cx="2926080" cy="347472"/>
          </a:xfrm>
          <a:prstGeom prst="roundRect">
            <a:avLst>
              <a:gd name="adj" fmla="val 21053"/>
            </a:avLst>
          </a:prstGeom>
          <a:solidFill>
            <a:schemeClr val="accent1">
              <a:lumMod val="75000"/>
            </a:schemeClr>
          </a:solidFill>
          <a:ln w="12700">
            <a:solidFill>
              <a:srgbClr val="3A7BD5"/>
            </a:solidFill>
            <a:prstDash val="solid"/>
          </a:ln>
        </p:spPr>
      </p:sp>
      <p:sp>
        <p:nvSpPr>
          <p:cNvPr id="18" name="Text 16"/>
          <p:cNvSpPr/>
          <p:nvPr/>
        </p:nvSpPr>
        <p:spPr>
          <a:xfrm>
            <a:off x="3063240" y="868680"/>
            <a:ext cx="2926080" cy="347472"/>
          </a:xfrm>
          <a:prstGeom prst="rect">
            <a:avLst/>
          </a:prstGeom>
          <a:noFill/>
          <a:ln/>
        </p:spPr>
        <p:txBody>
          <a:bodyPr wrap="square" lIns="0" tIns="0" rIns="0" bIns="0" rtlCol="0" anchor="ctr"/>
          <a:lstStyle/>
          <a:p>
            <a:pPr algn="ctr"/>
            <a:r>
              <a:rPr lang="en-US" sz="1050" b="1" dirty="0">
                <a:solidFill>
                  <a:schemeClr val="bg1"/>
                </a:solidFill>
              </a:rPr>
              <a:t>Existing Regulatory Recommendations</a:t>
            </a:r>
            <a:endParaRPr lang="en-US" sz="1050" b="1" dirty="0">
              <a:solidFill>
                <a:schemeClr val="bg1"/>
              </a:solidFill>
            </a:endParaRPr>
          </a:p>
        </p:txBody>
      </p:sp>
      <p:sp>
        <p:nvSpPr>
          <p:cNvPr id="19" name="Text 17"/>
          <p:cNvSpPr/>
          <p:nvPr/>
        </p:nvSpPr>
        <p:spPr>
          <a:xfrm>
            <a:off x="3200400" y="1298448"/>
            <a:ext cx="2651760" cy="237744"/>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Regulatory Measures</a:t>
            </a:r>
            <a:endParaRPr lang="en-US" sz="950" dirty="0"/>
          </a:p>
        </p:txBody>
      </p:sp>
      <p:sp>
        <p:nvSpPr>
          <p:cNvPr id="21" name="Text 19"/>
          <p:cNvSpPr/>
          <p:nvPr/>
        </p:nvSpPr>
        <p:spPr>
          <a:xfrm>
            <a:off x="3401568" y="1554480"/>
            <a:ext cx="246888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Stronger monitoring of financial influencers</a:t>
            </a:r>
            <a:endParaRPr lang="en-US" sz="850" dirty="0"/>
          </a:p>
        </p:txBody>
      </p:sp>
      <p:sp>
        <p:nvSpPr>
          <p:cNvPr id="23" name="Text 21"/>
          <p:cNvSpPr/>
          <p:nvPr/>
        </p:nvSpPr>
        <p:spPr>
          <a:xfrm>
            <a:off x="3401568" y="1828800"/>
            <a:ext cx="246888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Enhanced disclosure requirements</a:t>
            </a:r>
            <a:endParaRPr lang="en-US" sz="850" dirty="0"/>
          </a:p>
        </p:txBody>
      </p:sp>
      <p:sp>
        <p:nvSpPr>
          <p:cNvPr id="24" name="Text 22"/>
          <p:cNvSpPr/>
          <p:nvPr/>
        </p:nvSpPr>
        <p:spPr>
          <a:xfrm>
            <a:off x="3200400" y="2176272"/>
            <a:ext cx="2651760" cy="237744"/>
          </a:xfrm>
          <a:prstGeom prst="rect">
            <a:avLst/>
          </a:prstGeom>
          <a:noFill/>
          <a:ln/>
        </p:spPr>
        <p:txBody>
          <a:bodyPr wrap="square" lIns="0" tIns="0" rIns="0" bIns="0" rtlCol="0" anchor="ctr"/>
          <a:lstStyle/>
          <a:p>
            <a:pPr marL="0" indent="0">
              <a:buNone/>
            </a:pPr>
            <a:r>
              <a:rPr lang="en-US" sz="950" b="1" dirty="0">
                <a:solidFill>
                  <a:srgbClr val="1A3F7A"/>
                </a:solidFill>
                <a:latin typeface="Calibri" pitchFamily="34" charset="0"/>
                <a:ea typeface="Calibri" pitchFamily="34" charset="-122"/>
                <a:cs typeface="Calibri" pitchFamily="34" charset="-120"/>
              </a:rPr>
              <a:t>Technological Measures</a:t>
            </a:r>
            <a:endParaRPr lang="en-US" sz="950" dirty="0"/>
          </a:p>
        </p:txBody>
      </p:sp>
      <p:sp>
        <p:nvSpPr>
          <p:cNvPr id="26" name="Text 24"/>
          <p:cNvSpPr/>
          <p:nvPr/>
        </p:nvSpPr>
        <p:spPr>
          <a:xfrm>
            <a:off x="3401568" y="2423160"/>
            <a:ext cx="246888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AI-based surveillance systems</a:t>
            </a:r>
            <a:endParaRPr lang="en-US" sz="850" dirty="0"/>
          </a:p>
        </p:txBody>
      </p:sp>
      <p:sp>
        <p:nvSpPr>
          <p:cNvPr id="28" name="Text 26"/>
          <p:cNvSpPr/>
          <p:nvPr/>
        </p:nvSpPr>
        <p:spPr>
          <a:xfrm>
            <a:off x="3401568" y="2697480"/>
            <a:ext cx="2468880" cy="219456"/>
          </a:xfrm>
          <a:prstGeom prst="rect">
            <a:avLst/>
          </a:prstGeom>
          <a:noFill/>
          <a:ln/>
        </p:spPr>
        <p:txBody>
          <a:bodyPr wrap="square" lIns="0" tIns="0" rIns="0" bIns="0" rtlCol="0" anchor="ctr"/>
          <a:lstStyle/>
          <a:p>
            <a:pPr marL="0" indent="0">
              <a:buNone/>
            </a:pPr>
            <a:r>
              <a:rPr lang="en-US" sz="850" dirty="0">
                <a:solidFill>
                  <a:srgbClr val="1A1A2E"/>
                </a:solidFill>
                <a:latin typeface="Calibri" pitchFamily="34" charset="0"/>
                <a:ea typeface="Calibri" pitchFamily="34" charset="-122"/>
                <a:cs typeface="Calibri" pitchFamily="34" charset="-120"/>
              </a:rPr>
              <a:t>Real-time social media monitoring</a:t>
            </a:r>
            <a:endParaRPr lang="en-US" sz="850" dirty="0"/>
          </a:p>
        </p:txBody>
      </p:sp>
      <p:sp>
        <p:nvSpPr>
          <p:cNvPr id="29" name="Shape 27"/>
          <p:cNvSpPr/>
          <p:nvPr/>
        </p:nvSpPr>
        <p:spPr>
          <a:xfrm>
            <a:off x="6217920" y="868680"/>
            <a:ext cx="2651760" cy="2240280"/>
          </a:xfrm>
          <a:prstGeom prst="roundRect">
            <a:avLst>
              <a:gd name="adj" fmla="val 4082"/>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30" name="Shape 28"/>
          <p:cNvSpPr/>
          <p:nvPr/>
        </p:nvSpPr>
        <p:spPr>
          <a:xfrm>
            <a:off x="6217920" y="868680"/>
            <a:ext cx="2651760" cy="347472"/>
          </a:xfrm>
          <a:prstGeom prst="roundRect">
            <a:avLst>
              <a:gd name="adj" fmla="val 21053"/>
            </a:avLst>
          </a:prstGeom>
          <a:solidFill>
            <a:schemeClr val="accent1">
              <a:lumMod val="60000"/>
              <a:lumOff val="40000"/>
            </a:schemeClr>
          </a:solidFill>
          <a:ln w="12700">
            <a:solidFill>
              <a:schemeClr val="bg1">
                <a:lumMod val="85000"/>
              </a:schemeClr>
            </a:solidFill>
            <a:prstDash val="solid"/>
          </a:ln>
        </p:spPr>
      </p:sp>
      <p:sp>
        <p:nvSpPr>
          <p:cNvPr id="31" name="Text 29"/>
          <p:cNvSpPr/>
          <p:nvPr/>
        </p:nvSpPr>
        <p:spPr>
          <a:xfrm>
            <a:off x="6217920" y="868680"/>
            <a:ext cx="2651760" cy="34747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Investor Protection</a:t>
            </a:r>
            <a:endParaRPr lang="en-US" sz="1050" dirty="0"/>
          </a:p>
        </p:txBody>
      </p:sp>
      <p:sp>
        <p:nvSpPr>
          <p:cNvPr id="33" name="Text 31"/>
          <p:cNvSpPr/>
          <p:nvPr/>
        </p:nvSpPr>
        <p:spPr>
          <a:xfrm>
            <a:off x="6492240" y="1261872"/>
            <a:ext cx="2286000" cy="27432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Financial literacy campaigns</a:t>
            </a:r>
            <a:endParaRPr lang="en-US" sz="900" dirty="0"/>
          </a:p>
        </p:txBody>
      </p:sp>
      <p:sp>
        <p:nvSpPr>
          <p:cNvPr id="35" name="Text 33"/>
          <p:cNvSpPr/>
          <p:nvPr/>
        </p:nvSpPr>
        <p:spPr>
          <a:xfrm>
            <a:off x="6492240" y="1627632"/>
            <a:ext cx="2286000" cy="274320"/>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Awareness programs on social media fraud</a:t>
            </a:r>
            <a:endParaRPr lang="en-US" sz="900" dirty="0"/>
          </a:p>
        </p:txBody>
      </p:sp>
      <p:sp>
        <p:nvSpPr>
          <p:cNvPr id="36" name="Shape 34"/>
          <p:cNvSpPr/>
          <p:nvPr/>
        </p:nvSpPr>
        <p:spPr>
          <a:xfrm>
            <a:off x="274320" y="3200400"/>
            <a:ext cx="8595360" cy="1325880"/>
          </a:xfrm>
          <a:prstGeom prst="roundRect">
            <a:avLst>
              <a:gd name="adj" fmla="val 6897"/>
            </a:avLst>
          </a:prstGeom>
          <a:solidFill>
            <a:srgbClr val="F4F6FB"/>
          </a:solidFill>
          <a:ln w="12700">
            <a:solidFill>
              <a:srgbClr val="E2E8F0"/>
            </a:solidFill>
            <a:prstDash val="solid"/>
          </a:ln>
          <a:effectLst>
            <a:outerShdw blurRad="63500" dist="25400" dir="2700000" algn="bl" rotWithShape="0">
              <a:srgbClr val="000000">
                <a:alpha val="8000"/>
              </a:srgbClr>
            </a:outerShdw>
          </a:effectLst>
        </p:spPr>
      </p:sp>
      <p:sp>
        <p:nvSpPr>
          <p:cNvPr id="37" name="Text 35"/>
          <p:cNvSpPr/>
          <p:nvPr/>
        </p:nvSpPr>
        <p:spPr>
          <a:xfrm>
            <a:off x="411480" y="3246120"/>
            <a:ext cx="8229600" cy="274320"/>
          </a:xfrm>
          <a:prstGeom prst="rect">
            <a:avLst/>
          </a:prstGeom>
          <a:noFill/>
          <a:ln/>
        </p:spPr>
        <p:txBody>
          <a:bodyPr wrap="square" lIns="0" tIns="0" rIns="0" bIns="0" rtlCol="0" anchor="ctr"/>
          <a:lstStyle/>
          <a:p>
            <a:pPr marL="0" indent="0">
              <a:buNone/>
            </a:pPr>
            <a:r>
              <a:rPr lang="en-US" sz="1100" b="1" dirty="0">
                <a:solidFill>
                  <a:srgbClr val="1A3F7A"/>
                </a:solidFill>
                <a:latin typeface="Calibri" pitchFamily="34" charset="0"/>
                <a:ea typeface="Calibri" pitchFamily="34" charset="-122"/>
                <a:cs typeface="Calibri" pitchFamily="34" charset="-120"/>
              </a:rPr>
              <a:t>Conclusion</a:t>
            </a:r>
            <a:endParaRPr lang="en-US" sz="1100" dirty="0"/>
          </a:p>
        </p:txBody>
      </p:sp>
      <p:sp>
        <p:nvSpPr>
          <p:cNvPr id="38" name="Text 36"/>
          <p:cNvSpPr/>
          <p:nvPr/>
        </p:nvSpPr>
        <p:spPr>
          <a:xfrm>
            <a:off x="411480" y="3547872"/>
            <a:ext cx="8321040" cy="868680"/>
          </a:xfrm>
          <a:prstGeom prst="rect">
            <a:avLst/>
          </a:prstGeom>
          <a:noFill/>
          <a:ln/>
        </p:spPr>
        <p:txBody>
          <a:bodyPr wrap="square" lIns="0" tIns="0" rIns="0" bIns="0" rtlCol="0" anchor="ctr"/>
          <a:lstStyle/>
          <a:p>
            <a:pPr marL="0" indent="0">
              <a:buNone/>
            </a:pPr>
            <a:r>
              <a:rPr lang="en-US" sz="950" dirty="0">
                <a:solidFill>
                  <a:schemeClr val="tx1">
                    <a:lumMod val="75000"/>
                    <a:lumOff val="25000"/>
                  </a:schemeClr>
                </a:solidFill>
                <a:latin typeface="Calibri" pitchFamily="34" charset="0"/>
                <a:ea typeface="Calibri" pitchFamily="34" charset="-122"/>
                <a:cs typeface="Calibri" pitchFamily="34" charset="-120"/>
              </a:rPr>
              <a:t>This study demonstrates that social media platforms, particularly Telegram, can significantly influence stock prices and trading volumes through coordinated pump-and-dump schemes. The analysis highlights how artificial promotions generate abnormal market activity, resulting in substantial losses for retail investors. Strengthened regulation, technological surveillance, and investor education are essential to protect investors and maintain market integrity.</a:t>
            </a:r>
            <a:endParaRPr lang="en-US" sz="950" dirty="0">
              <a:solidFill>
                <a:schemeClr val="tx1">
                  <a:lumMod val="75000"/>
                  <a:lumOff val="25000"/>
                </a:schemeClr>
              </a:solidFill>
            </a:endParaRPr>
          </a:p>
        </p:txBody>
      </p:sp>
      <p:sp>
        <p:nvSpPr>
          <p:cNvPr id="40" name="Text 38"/>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2743200"/>
          </a:xfrm>
          <a:prstGeom prst="rect">
            <a:avLst/>
          </a:prstGeom>
          <a:solidFill>
            <a:srgbClr val="1A3F7A"/>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3" name="Text 1"/>
          <p:cNvSpPr/>
          <p:nvPr/>
        </p:nvSpPr>
        <p:spPr>
          <a:xfrm>
            <a:off x="457200" y="585216"/>
            <a:ext cx="8229600" cy="100584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Thank You</a:t>
            </a:r>
            <a:endParaRPr lang="en-US" sz="4400" dirty="0"/>
          </a:p>
        </p:txBody>
      </p:sp>
      <p:sp>
        <p:nvSpPr>
          <p:cNvPr id="4" name="Text 2"/>
          <p:cNvSpPr/>
          <p:nvPr/>
        </p:nvSpPr>
        <p:spPr>
          <a:xfrm>
            <a:off x="457200" y="1463040"/>
            <a:ext cx="8229600" cy="457200"/>
          </a:xfrm>
          <a:prstGeom prst="rect">
            <a:avLst/>
          </a:prstGeom>
          <a:noFill/>
          <a:ln/>
        </p:spPr>
        <p:txBody>
          <a:bodyPr wrap="square" lIns="0" tIns="0" rIns="0" bIns="0" rtlCol="0" anchor="ctr"/>
          <a:lstStyle/>
          <a:p>
            <a:pPr marL="0" indent="0" algn="ctr">
              <a:buNone/>
            </a:pPr>
            <a:endParaRPr lang="en-US" sz="1800" dirty="0"/>
          </a:p>
        </p:txBody>
      </p:sp>
      <p:sp>
        <p:nvSpPr>
          <p:cNvPr id="5" name="Text 3"/>
          <p:cNvSpPr/>
          <p:nvPr/>
        </p:nvSpPr>
        <p:spPr>
          <a:xfrm>
            <a:off x="457200" y="2029968"/>
            <a:ext cx="8229600" cy="365760"/>
          </a:xfrm>
          <a:prstGeom prst="rect">
            <a:avLst/>
          </a:prstGeom>
          <a:noFill/>
          <a:ln/>
        </p:spPr>
        <p:txBody>
          <a:bodyPr wrap="square" lIns="0" tIns="0" rIns="0" bIns="0" rtlCol="0" anchor="ctr"/>
          <a:lstStyle/>
          <a:p>
            <a:pPr marL="0" indent="0" algn="ctr">
              <a:buNone/>
            </a:pPr>
            <a:r>
              <a:rPr lang="en-US" sz="1100" dirty="0">
                <a:solidFill>
                  <a:srgbClr val="7BAFD4"/>
                </a:solidFill>
                <a:latin typeface="Calibri" pitchFamily="34" charset="0"/>
                <a:ea typeface="Calibri" pitchFamily="34" charset="-122"/>
                <a:cs typeface="Calibri" pitchFamily="34" charset="-120"/>
              </a:rPr>
              <a:t>Social Media Driven Pump-and-Dump Schemes in Indian Capital Markets</a:t>
            </a:r>
            <a:endParaRPr lang="en-US" sz="1100" dirty="0"/>
          </a:p>
        </p:txBody>
      </p:sp>
      <p:sp>
        <p:nvSpPr>
          <p:cNvPr id="6" name="Shape 4"/>
          <p:cNvSpPr/>
          <p:nvPr/>
        </p:nvSpPr>
        <p:spPr>
          <a:xfrm>
            <a:off x="1371600" y="2944368"/>
            <a:ext cx="6400800" cy="1874520"/>
          </a:xfrm>
          <a:prstGeom prst="roundRect">
            <a:avLst>
              <a:gd name="adj" fmla="val 4878"/>
            </a:avLst>
          </a:prstGeom>
          <a:solidFill>
            <a:srgbClr val="F4F6FB"/>
          </a:solidFill>
          <a:ln w="12700">
            <a:noFill/>
            <a:prstDash val="soli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p>
      <p:sp>
        <p:nvSpPr>
          <p:cNvPr id="7" name="Text 5"/>
          <p:cNvSpPr/>
          <p:nvPr/>
        </p:nvSpPr>
        <p:spPr>
          <a:xfrm>
            <a:off x="1508760" y="2999232"/>
            <a:ext cx="6126480" cy="1627632"/>
          </a:xfrm>
          <a:prstGeom prst="rect">
            <a:avLst/>
          </a:prstGeom>
          <a:noFill/>
          <a:ln/>
        </p:spPr>
        <p:txBody>
          <a:bodyPr wrap="square" lIns="0" tIns="0" rIns="0" bIns="0" rtlCol="0" anchor="ctr"/>
          <a:lstStyle/>
          <a:p>
            <a:pPr marL="0" indent="0" algn="ctr">
              <a:buNone/>
            </a:pPr>
            <a:r>
              <a:rPr lang="en-US" sz="1100" b="1" dirty="0">
                <a:solidFill>
                  <a:srgbClr val="1A3F7A"/>
                </a:solidFill>
                <a:latin typeface="Calibri" pitchFamily="34" charset="0"/>
                <a:ea typeface="Calibri" pitchFamily="34" charset="-122"/>
                <a:cs typeface="Calibri" pitchFamily="34" charset="-120"/>
              </a:rPr>
              <a:t>Presented By</a:t>
            </a:r>
            <a:endParaRPr lang="en-US" sz="1100" dirty="0"/>
          </a:p>
          <a:p>
            <a:pPr marL="0" indent="0" algn="ctr">
              <a:buNone/>
            </a:pPr>
            <a:r>
              <a:rPr lang="en-US" sz="1000" dirty="0" smtClean="0">
                <a:solidFill>
                  <a:srgbClr val="4A5568"/>
                </a:solidFill>
                <a:latin typeface="Calibri" pitchFamily="34" charset="0"/>
                <a:ea typeface="Calibri" pitchFamily="34" charset="-122"/>
                <a:cs typeface="Calibri" pitchFamily="34" charset="-120"/>
              </a:rPr>
              <a:t>Ancilla Dsouza</a:t>
            </a:r>
          </a:p>
          <a:p>
            <a:pPr algn="ctr"/>
            <a:r>
              <a:rPr lang="en-US" sz="1000" dirty="0">
                <a:solidFill>
                  <a:srgbClr val="4A5568"/>
                </a:solidFill>
                <a:latin typeface="Calibri" pitchFamily="34" charset="0"/>
                <a:ea typeface="Calibri" pitchFamily="34" charset="-122"/>
                <a:cs typeface="Calibri" pitchFamily="34" charset="-120"/>
              </a:rPr>
              <a:t>RA2532271010013</a:t>
            </a:r>
          </a:p>
          <a:p>
            <a:pPr algn="ctr"/>
            <a:r>
              <a:rPr lang="en-US" sz="1000" dirty="0">
                <a:solidFill>
                  <a:srgbClr val="4A5568"/>
                </a:solidFill>
                <a:latin typeface="Calibri" pitchFamily="34" charset="0"/>
                <a:ea typeface="Calibri" pitchFamily="34" charset="-122"/>
                <a:cs typeface="Calibri" pitchFamily="34" charset="-120"/>
              </a:rPr>
              <a:t>SRM Institute of Science and Technology</a:t>
            </a:r>
          </a:p>
        </p:txBody>
      </p:sp>
      <p:sp>
        <p:nvSpPr>
          <p:cNvPr id="9" name="Text 7"/>
          <p:cNvSpPr/>
          <p:nvPr/>
        </p:nvSpPr>
        <p:spPr>
          <a:xfrm>
            <a:off x="365760" y="4818888"/>
            <a:ext cx="8412480" cy="301752"/>
          </a:xfrm>
          <a:prstGeom prst="rect">
            <a:avLst/>
          </a:prstGeom>
          <a:noFill/>
          <a:ln/>
        </p:spPr>
        <p:txBody>
          <a:bodyPr wrap="square" lIns="0" tIns="0" rIns="0" bIns="0" rtlCol="0" anchor="ctr"/>
          <a:lstStyle/>
          <a:p>
            <a:pPr marL="0" indent="0" algn="ctr">
              <a:buNone/>
            </a:pPr>
            <a:endParaRPr lang="en-US" sz="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712</TotalTime>
  <Words>1234</Words>
  <Application>Microsoft Office PowerPoint</Application>
  <PresentationFormat>On-screen Show (16:9)</PresentationFormat>
  <Paragraphs>215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13</cp:revision>
  <dcterms:created xsi:type="dcterms:W3CDTF">2026-06-10T19:09:23Z</dcterms:created>
  <dcterms:modified xsi:type="dcterms:W3CDTF">2026-06-11T07:04:57Z</dcterms:modified>
</cp:coreProperties>
</file>